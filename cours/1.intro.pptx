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63" r:id="rId2"/>
    <p:sldId id="541" r:id="rId3"/>
    <p:sldId id="544" r:id="rId4"/>
    <p:sldId id="552" r:id="rId5"/>
    <p:sldId id="289" r:id="rId6"/>
    <p:sldId id="315" r:id="rId7"/>
    <p:sldId id="560" r:id="rId8"/>
    <p:sldId id="553" r:id="rId9"/>
    <p:sldId id="266" r:id="rId10"/>
    <p:sldId id="559" r:id="rId11"/>
    <p:sldId id="561" r:id="rId12"/>
    <p:sldId id="322" r:id="rId13"/>
    <p:sldId id="491" r:id="rId14"/>
    <p:sldId id="554" r:id="rId15"/>
    <p:sldId id="555" r:id="rId16"/>
    <p:sldId id="562" r:id="rId17"/>
    <p:sldId id="563" r:id="rId18"/>
    <p:sldId id="328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DDA6"/>
    <a:srgbClr val="FF33CC"/>
    <a:srgbClr val="1E2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7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9C8B2-563D-4B86-8810-7A70C5EB458D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986FB-CE7B-4524-B039-5F61198D35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19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986FB-CE7B-4524-B039-5F61198D35B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648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986FB-CE7B-4524-B039-5F61198D35B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96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F47C-4F49-49F8-9C42-DE0FAA95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58EE2-56D1-413B-A2BC-5CCCC0DDD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3794-88A6-41D0-A065-8691CD59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AD68-29F0-4103-AB81-705C68FD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963F-F544-4338-A3C0-19B02198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35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F230-40ED-4AEC-B4A7-BCC9E10E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1B84-F3D8-4C24-BCC6-35C4D778F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9B91B-34CB-4B2B-ACE1-B9103B58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48DA9-2E84-454C-B4CB-D5CD6D01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57CFB-3CE0-4A17-9F43-97DBB1C1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90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4106-A0AC-49AA-A5B2-AA1E9439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0556F-50E9-46C1-85A6-75F3FF01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2119-DB4E-4F0A-B31F-C639EC10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344F0-5EB9-45CF-B3AE-4136B698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8AA9-1C11-4B38-98EB-BE0BD07C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77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BC2F-4B47-4003-AEB8-93F284CB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AA17-9897-4E83-9320-774E39405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34AE3-8DF7-49C0-AB22-AF7AD7F27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4D548-4E1C-49EA-AE49-546A569B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A985F-3874-4E1F-8BDC-A0BE9E90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1CB89-5C26-4741-B019-926066D6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31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E3D8-4E0F-4BF8-A217-53E3BFD8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24339-8E55-4EC4-AA88-97EA117FB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4587-E1F7-4BED-A562-CFF4471AF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3F72E-4BEE-424D-9187-B9E12CBD0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8EAAC-0EA9-4AB0-90BD-D5A6E5F11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4A913-BE82-4B21-9379-A22B7F45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DDF37-A39F-447D-B9DC-BEB35D9A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3E685-2551-44D9-85A6-CF0D9464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1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5589-CDDB-4F15-9899-58A2F387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E3416-F461-48EB-B7B5-F3622440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85A77-B3D6-4E74-9B59-0B35E57B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4366A-844A-4ADC-97F0-DDA062D6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15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15D7E-2A33-41BF-AE56-64518429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FD19B-C4FE-4158-9DD8-A3660625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A8F5F-4D3B-4D8C-897D-D720B644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8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A4A9-CDE3-4A74-8733-ADB65A69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BF1BC-F109-4376-8CD2-126C978C7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CF4AF-9BBD-4579-B3E7-7C78F49FC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431B2-1FD6-473A-8128-5EE62F69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8DB1-57A3-4726-BBBD-BA11DA20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F88ED-38BE-46BE-A8FD-E3BE3ADF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11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C590-386D-4065-BE6D-A7BE7DBF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2CFA4-04E8-4EE4-AE9E-00671A938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B8B1E-C6C5-491E-9C87-A18E1A96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2A70E-F0A2-4150-B766-968DC889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15154-33A5-40A9-B1ED-463E5234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E68F1-590F-4F38-BDD7-1D0B9FAD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89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F8E3-6F63-40D8-BFD0-E8848ABA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94DFF-158A-4165-87AC-1E3F939D7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08E2-B5FF-4157-84B4-FC7F9198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92CAE-56AE-4592-AAB3-3E4BAF33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B7430-4F00-4D65-A4CF-6BA6DD1A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82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16AEB0-9FE5-4B61-BC60-F69C40174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89088-5337-4BEA-85FC-9B0059EAF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51EE8-16A6-4369-936B-9472F502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2DF00-1E38-4D2D-A574-868A8653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5D5F9-B62F-476A-AEC5-05CA8B43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86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567AF-9C6A-4710-80CC-67ED07D1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DC619-68ED-45AC-8B74-CBDBF6FF5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4DE3-739C-447A-B730-66AEBC7D3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5D0DD-847B-496C-A162-61F695F7E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D5572-667A-4458-AE01-F69B0C2A8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5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33">
            <a:extLst>
              <a:ext uri="{FF2B5EF4-FFF2-40B4-BE49-F238E27FC236}">
                <a16:creationId xmlns:a16="http://schemas.microsoft.com/office/drawing/2014/main" id="{063B6E03-6674-4377-B6FE-87876EB30CD7}"/>
              </a:ext>
            </a:extLst>
          </p:cNvPr>
          <p:cNvSpPr txBox="1"/>
          <p:nvPr/>
        </p:nvSpPr>
        <p:spPr>
          <a:xfrm>
            <a:off x="1709225" y="1998334"/>
            <a:ext cx="87735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rgbClr val="20DDA6"/>
                </a:solidFill>
                <a:latin typeface="Candara Light" panose="020E0502030303020204" pitchFamily="34" charset="0"/>
              </a:rPr>
              <a:t>MANAGEMENT</a:t>
            </a:r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 DE PROJETS NUMERIQUES</a:t>
            </a:r>
            <a:endParaRPr lang="fr-FR" sz="6000" dirty="0">
              <a:solidFill>
                <a:srgbClr val="20DDA6"/>
              </a:solidFill>
              <a:latin typeface="Candara Light" panose="020E0502030303020204" pitchFamily="34" charset="0"/>
            </a:endParaRPr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5EE984B9-5863-4622-8FA1-B567061E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353" y="4463195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4">
            <a:extLst>
              <a:ext uri="{FF2B5EF4-FFF2-40B4-BE49-F238E27FC236}">
                <a16:creationId xmlns:a16="http://schemas.microsoft.com/office/drawing/2014/main" id="{C11F3F49-DE9F-4F15-A040-10B327706B95}"/>
              </a:ext>
            </a:extLst>
          </p:cNvPr>
          <p:cNvSpPr txBox="1"/>
          <p:nvPr/>
        </p:nvSpPr>
        <p:spPr>
          <a:xfrm>
            <a:off x="2963594" y="3995263"/>
            <a:ext cx="6091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 Light" panose="020E0502030303020204" pitchFamily="34" charset="0"/>
              </a:rPr>
              <a:t>Michael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7AD1D8-3A4D-4FC9-AE10-C25BE2EE9A22}"/>
              </a:ext>
            </a:extLst>
          </p:cNvPr>
          <p:cNvSpPr txBox="1"/>
          <p:nvPr/>
        </p:nvSpPr>
        <p:spPr>
          <a:xfrm>
            <a:off x="200024" y="4902985"/>
            <a:ext cx="1086761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9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COLLAB</a:t>
            </a:r>
          </a:p>
        </p:txBody>
      </p:sp>
    </p:spTree>
    <p:extLst>
      <p:ext uri="{BB962C8B-B14F-4D97-AF65-F5344CB8AC3E}">
        <p14:creationId xmlns:p14="http://schemas.microsoft.com/office/powerpoint/2010/main" val="122539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27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B7497E-97A3-4BAF-BBC4-0CB4EF2E15A6}"/>
              </a:ext>
            </a:extLst>
          </p:cNvPr>
          <p:cNvSpPr txBox="1"/>
          <p:nvPr/>
        </p:nvSpPr>
        <p:spPr>
          <a:xfrm>
            <a:off x="3137095" y="941140"/>
            <a:ext cx="60913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Prérequis </a:t>
            </a:r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  <a:sym typeface="Wingdings" panose="05000000000000000000" pitchFamily="2" charset="2"/>
              </a:rPr>
              <a:t></a:t>
            </a:r>
            <a:endParaRPr lang="fr-FR" sz="600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BD42A3-3236-49A2-BDF8-A77DB14A5E26}"/>
              </a:ext>
            </a:extLst>
          </p:cNvPr>
          <p:cNvSpPr txBox="1"/>
          <p:nvPr/>
        </p:nvSpPr>
        <p:spPr>
          <a:xfrm>
            <a:off x="2048071" y="2653681"/>
            <a:ext cx="8269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ndara Light" panose="020E0502030303020204" pitchFamily="34" charset="0"/>
              </a:rPr>
              <a:t>Aucun</a:t>
            </a:r>
            <a:endParaRPr lang="fr-FR" sz="3600" b="1" dirty="0">
              <a:solidFill>
                <a:srgbClr val="20DDA6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62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B7497E-97A3-4BAF-BBC4-0CB4EF2E15A6}"/>
              </a:ext>
            </a:extLst>
          </p:cNvPr>
          <p:cNvSpPr txBox="1"/>
          <p:nvPr/>
        </p:nvSpPr>
        <p:spPr>
          <a:xfrm>
            <a:off x="2714249" y="2499261"/>
            <a:ext cx="67635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Candara Light" panose="020E0502030303020204" pitchFamily="34" charset="0"/>
              </a:rPr>
              <a:t>Qui êtes-vous ?</a:t>
            </a:r>
          </a:p>
          <a:p>
            <a:pPr algn="ctr"/>
            <a:r>
              <a:rPr lang="fr-FR" sz="4800" dirty="0">
                <a:solidFill>
                  <a:schemeClr val="bg1"/>
                </a:solidFill>
                <a:latin typeface="Candara Light" panose="020E0502030303020204" pitchFamily="34" charset="0"/>
              </a:rPr>
              <a:t>Qu’attendez-vous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85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21C79-B817-4CCC-94F2-188F469AE3AD}"/>
              </a:ext>
            </a:extLst>
          </p:cNvPr>
          <p:cNvSpPr txBox="1"/>
          <p:nvPr/>
        </p:nvSpPr>
        <p:spPr>
          <a:xfrm>
            <a:off x="1364974" y="2881414"/>
            <a:ext cx="9462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MICHAEL</a:t>
            </a:r>
          </a:p>
        </p:txBody>
      </p:sp>
      <p:pic>
        <p:nvPicPr>
          <p:cNvPr id="6" name="Picture 4" descr="[webp-to-png output image]">
            <a:extLst>
              <a:ext uri="{FF2B5EF4-FFF2-40B4-BE49-F238E27FC236}">
                <a16:creationId xmlns:a16="http://schemas.microsoft.com/office/drawing/2014/main" id="{67FF21A0-1909-4417-B6D5-8294CC0B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819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21C79-B817-4CCC-94F2-188F469AE3AD}"/>
              </a:ext>
            </a:extLst>
          </p:cNvPr>
          <p:cNvSpPr txBox="1"/>
          <p:nvPr/>
        </p:nvSpPr>
        <p:spPr>
          <a:xfrm>
            <a:off x="1364974" y="2881414"/>
            <a:ext cx="94620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MICHAEL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0A8B14-41F4-46BE-9DE9-25BD024E2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061" y="408032"/>
            <a:ext cx="2979876" cy="24733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832B51-07CC-441B-8315-ED97E89B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659" y="3995070"/>
            <a:ext cx="2812568" cy="2130863"/>
          </a:xfrm>
          <a:prstGeom prst="rect">
            <a:avLst/>
          </a:prstGeom>
        </p:spPr>
      </p:pic>
      <p:pic>
        <p:nvPicPr>
          <p:cNvPr id="6" name="Picture 4" descr="[webp-to-png output image]">
            <a:extLst>
              <a:ext uri="{FF2B5EF4-FFF2-40B4-BE49-F238E27FC236}">
                <a16:creationId xmlns:a16="http://schemas.microsoft.com/office/drawing/2014/main" id="{5915387D-6BBD-4400-B7C0-2121A2CBE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niversity of Oxford visual identity - Fonts In Use">
            <a:extLst>
              <a:ext uri="{FF2B5EF4-FFF2-40B4-BE49-F238E27FC236}">
                <a16:creationId xmlns:a16="http://schemas.microsoft.com/office/drawing/2014/main" id="{22AFA5D5-DAFD-42F9-BCC8-87302C989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986" y="3952226"/>
            <a:ext cx="2161328" cy="216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8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21C79-B817-4CCC-94F2-188F469AE3AD}"/>
              </a:ext>
            </a:extLst>
          </p:cNvPr>
          <p:cNvSpPr txBox="1"/>
          <p:nvPr/>
        </p:nvSpPr>
        <p:spPr>
          <a:xfrm>
            <a:off x="1893819" y="2060979"/>
            <a:ext cx="943901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Tx/>
              <a:buChar char="-"/>
            </a:pPr>
            <a:endParaRPr lang="fr-FR" sz="3200" dirty="0">
              <a:solidFill>
                <a:srgbClr val="20DDA6"/>
              </a:solidFill>
              <a:latin typeface="Candara Light" panose="020E0502030303020204" pitchFamily="34" charset="0"/>
            </a:endParaRPr>
          </a:p>
          <a:p>
            <a:pPr marL="685800" indent="-685800">
              <a:buFontTx/>
              <a:buChar char="-"/>
            </a:pP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Chef de projet / Responsable d’application EPC</a:t>
            </a:r>
          </a:p>
          <a:p>
            <a:pPr marL="685800" indent="-685800">
              <a:buFontTx/>
              <a:buChar char="-"/>
            </a:pP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Pilotage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de projets (fusion de banques etc.)</a:t>
            </a:r>
          </a:p>
          <a:p>
            <a:pPr marL="685800" indent="-685800">
              <a:buFontTx/>
              <a:buChar char="-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Négociation de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budgets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(APS)</a:t>
            </a:r>
          </a:p>
          <a:p>
            <a:pPr marL="685800" indent="-685800">
              <a:buFontTx/>
              <a:buChar char="-"/>
            </a:pP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Contractualisation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avec des SSII (CGI,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Amaris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etc.)</a:t>
            </a:r>
          </a:p>
          <a:p>
            <a:pPr marL="685800" indent="-685800">
              <a:buFontTx/>
              <a:buChar char="-"/>
            </a:pP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Expression des besoins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,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recette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et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contrôle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qualité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(ISO 9001)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  <p:pic>
        <p:nvPicPr>
          <p:cNvPr id="6" name="Picture 4" descr="[webp-to-png output image]">
            <a:extLst>
              <a:ext uri="{FF2B5EF4-FFF2-40B4-BE49-F238E27FC236}">
                <a16:creationId xmlns:a16="http://schemas.microsoft.com/office/drawing/2014/main" id="{67FF21A0-1909-4417-B6D5-8294CC0B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24D4B02-6A96-0D70-F9A7-03EA68FA0864}"/>
              </a:ext>
            </a:extLst>
          </p:cNvPr>
          <p:cNvSpPr txBox="1"/>
          <p:nvPr/>
        </p:nvSpPr>
        <p:spPr>
          <a:xfrm>
            <a:off x="5514536" y="141950"/>
            <a:ext cx="53457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MOI ?</a:t>
            </a:r>
          </a:p>
        </p:txBody>
      </p:sp>
    </p:spTree>
    <p:extLst>
      <p:ext uri="{BB962C8B-B14F-4D97-AF65-F5344CB8AC3E}">
        <p14:creationId xmlns:p14="http://schemas.microsoft.com/office/powerpoint/2010/main" val="232312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938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056494C-DC6F-4CB7-9B5D-8C7CF88C97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111" y="1230923"/>
            <a:ext cx="3934765" cy="4396154"/>
          </a:xfrm>
          <a:prstGeom prst="rect">
            <a:avLst/>
          </a:prstGeom>
        </p:spPr>
      </p:pic>
      <p:pic>
        <p:nvPicPr>
          <p:cNvPr id="5" name="Picture 4" descr="[webp-to-png output image]">
            <a:extLst>
              <a:ext uri="{FF2B5EF4-FFF2-40B4-BE49-F238E27FC236}">
                <a16:creationId xmlns:a16="http://schemas.microsoft.com/office/drawing/2014/main" id="{B2AE97E2-ABE1-4262-A697-A89D2342E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228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B7497E-97A3-4BAF-BBC4-0CB4EF2E15A6}"/>
              </a:ext>
            </a:extLst>
          </p:cNvPr>
          <p:cNvSpPr txBox="1"/>
          <p:nvPr/>
        </p:nvSpPr>
        <p:spPr>
          <a:xfrm>
            <a:off x="3137095" y="941140"/>
            <a:ext cx="60913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Compétences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7CD465C9-155A-465D-B1EC-EA8EA31EE002}"/>
              </a:ext>
            </a:extLst>
          </p:cNvPr>
          <p:cNvSpPr txBox="1"/>
          <p:nvPr/>
        </p:nvSpPr>
        <p:spPr>
          <a:xfrm>
            <a:off x="2116908" y="2122267"/>
            <a:ext cx="82693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[C10] Planifier et conduire un projet numérique en contexte (agile/hybride), en respectant jalons, budget et risques.</a:t>
            </a:r>
          </a:p>
          <a:p>
            <a:endParaRPr lang="fr-FR" sz="2000" b="1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[C11] Coordonner les équipes, organiser le travail (Kanban/Jira), suivre l’avancement et gérer les écarts.</a:t>
            </a:r>
          </a:p>
          <a:p>
            <a:endParaRPr lang="fr-FR" sz="2000" b="1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[C12] Mettre en place le suivi d’indicateurs (coût/délai/qualité), produire des tableaux de bord et activer des mesures correctives.</a:t>
            </a:r>
          </a:p>
        </p:txBody>
      </p:sp>
    </p:spTree>
    <p:extLst>
      <p:ext uri="{BB962C8B-B14F-4D97-AF65-F5344CB8AC3E}">
        <p14:creationId xmlns:p14="http://schemas.microsoft.com/office/powerpoint/2010/main" val="43507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0C908-65C9-A883-17DE-88816107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52A513-2034-3456-461B-8BA60B2E982F}"/>
              </a:ext>
            </a:extLst>
          </p:cNvPr>
          <p:cNvSpPr txBox="1"/>
          <p:nvPr/>
        </p:nvSpPr>
        <p:spPr>
          <a:xfrm>
            <a:off x="3137095" y="941140"/>
            <a:ext cx="60913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Compétences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995A96-498B-FE1D-E866-85E6BF61FDAD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8572E81E-0DAF-E8AC-9D48-D0B1B1FD1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79D2EAF1-D354-A6AC-490C-CF59ACA792D9}"/>
              </a:ext>
            </a:extLst>
          </p:cNvPr>
          <p:cNvSpPr txBox="1"/>
          <p:nvPr/>
        </p:nvSpPr>
        <p:spPr>
          <a:xfrm>
            <a:off x="2116908" y="2122267"/>
            <a:ext cx="82693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[C13] Contribuer à la résolution d’incidents et problèmes complexes par recherche documentaire (incl. anglais) et appui à l’équipe.</a:t>
            </a:r>
          </a:p>
          <a:p>
            <a:endParaRPr lang="fr-FR" sz="2000" b="1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[C14] Conduire des revues périodiques (revues de performance, rapports d’étape) pour mesurer l’atteinte des objectifs.</a:t>
            </a:r>
          </a:p>
          <a:p>
            <a:endParaRPr lang="fr-FR" sz="2000" b="1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[C15] Animer la montée en compétences (ateliers, revues de code, RETEX) et mesurer l’impact sur la performance collective.</a:t>
            </a:r>
          </a:p>
        </p:txBody>
      </p:sp>
    </p:spTree>
    <p:extLst>
      <p:ext uri="{BB962C8B-B14F-4D97-AF65-F5344CB8AC3E}">
        <p14:creationId xmlns:p14="http://schemas.microsoft.com/office/powerpoint/2010/main" val="4162437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056494C-DC6F-4CB7-9B5D-8C7CF88C97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111" y="1230923"/>
            <a:ext cx="3934765" cy="4396154"/>
          </a:xfrm>
          <a:prstGeom prst="rect">
            <a:avLst/>
          </a:prstGeom>
        </p:spPr>
      </p:pic>
      <p:pic>
        <p:nvPicPr>
          <p:cNvPr id="5" name="Picture 4" descr="[webp-to-png output image]">
            <a:extLst>
              <a:ext uri="{FF2B5EF4-FFF2-40B4-BE49-F238E27FC236}">
                <a16:creationId xmlns:a16="http://schemas.microsoft.com/office/drawing/2014/main" id="{03CDC17C-5A0B-45FB-9183-8EB1DADF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389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B7497E-97A3-4BAF-BBC4-0CB4EF2E15A6}"/>
              </a:ext>
            </a:extLst>
          </p:cNvPr>
          <p:cNvSpPr txBox="1"/>
          <p:nvPr/>
        </p:nvSpPr>
        <p:spPr>
          <a:xfrm>
            <a:off x="3050344" y="1715220"/>
            <a:ext cx="60913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PLAN DE COURS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D39D5B-A48D-4E5E-9DF6-916CFB91CA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3703" y="2948808"/>
            <a:ext cx="3944592" cy="2356619"/>
          </a:xfrm>
          <a:prstGeom prst="rect">
            <a:avLst/>
          </a:prstGeom>
        </p:spPr>
      </p:pic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CFC972D8-D865-4AD2-9D5C-17C40EF54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57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FA45D34-0A79-4603-BFFF-C1FF391497E2}"/>
              </a:ext>
            </a:extLst>
          </p:cNvPr>
          <p:cNvSpPr txBox="1"/>
          <p:nvPr/>
        </p:nvSpPr>
        <p:spPr>
          <a:xfrm>
            <a:off x="6974263" y="2379279"/>
            <a:ext cx="457712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J1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CFC972D8-D865-4AD2-9D5C-17C40EF54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FA94A2-87C6-4AC3-8065-FDE8B5F66C88}"/>
              </a:ext>
            </a:extLst>
          </p:cNvPr>
          <p:cNvSpPr txBox="1"/>
          <p:nvPr/>
        </p:nvSpPr>
        <p:spPr>
          <a:xfrm>
            <a:off x="2443033" y="1830902"/>
            <a:ext cx="79778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Cadrage et gouvernance – 2h</a:t>
            </a:r>
          </a:p>
          <a:p>
            <a:endParaRPr lang="fr-FR" sz="2800" b="1" dirty="0">
              <a:solidFill>
                <a:srgbClr val="20DDA6"/>
              </a:solidFill>
              <a:latin typeface="Candara Light" panose="020E0502030303020204" pitchFamily="34" charset="0"/>
            </a:endParaRPr>
          </a:p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Planification et chiffrage – 2h</a:t>
            </a:r>
          </a:p>
          <a:p>
            <a:endParaRPr lang="fr-FR" sz="2800" b="1" dirty="0">
              <a:solidFill>
                <a:srgbClr val="20DDA6"/>
              </a:solidFill>
              <a:latin typeface="Candara Light" panose="020E0502030303020204" pitchFamily="34" charset="0"/>
            </a:endParaRPr>
          </a:p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Méthodologie et coordination – 3h</a:t>
            </a:r>
          </a:p>
        </p:txBody>
      </p:sp>
    </p:spTree>
    <p:extLst>
      <p:ext uri="{BB962C8B-B14F-4D97-AF65-F5344CB8AC3E}">
        <p14:creationId xmlns:p14="http://schemas.microsoft.com/office/powerpoint/2010/main" val="4183991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F6783F1-A214-4979-B31D-4220199C9BF1}"/>
              </a:ext>
            </a:extLst>
          </p:cNvPr>
          <p:cNvSpPr txBox="1"/>
          <p:nvPr/>
        </p:nvSpPr>
        <p:spPr>
          <a:xfrm>
            <a:off x="6974263" y="2379279"/>
            <a:ext cx="457712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J2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CFC972D8-D865-4AD2-9D5C-17C40EF54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ED753907-5577-0101-6DFE-9344CE89C533}"/>
              </a:ext>
            </a:extLst>
          </p:cNvPr>
          <p:cNvSpPr txBox="1"/>
          <p:nvPr/>
        </p:nvSpPr>
        <p:spPr>
          <a:xfrm>
            <a:off x="2398644" y="1351508"/>
            <a:ext cx="79778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KPI et </a:t>
            </a:r>
            <a:r>
              <a:rPr lang="fr-FR" sz="2800" b="1" dirty="0" err="1">
                <a:solidFill>
                  <a:srgbClr val="20DDA6"/>
                </a:solidFill>
                <a:latin typeface="Candara Light" panose="020E0502030303020204" pitchFamily="34" charset="0"/>
              </a:rPr>
              <a:t>reporting</a:t>
            </a:r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 – 3h</a:t>
            </a:r>
          </a:p>
          <a:p>
            <a:endParaRPr lang="fr-FR" sz="2800" b="1" dirty="0">
              <a:solidFill>
                <a:srgbClr val="20DDA6"/>
              </a:solidFill>
              <a:latin typeface="Candara Light" panose="020E0502030303020204" pitchFamily="34" charset="0"/>
            </a:endParaRPr>
          </a:p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Résolution d’incidents – 2h</a:t>
            </a:r>
          </a:p>
          <a:p>
            <a:endParaRPr lang="fr-FR" sz="2800" b="1" dirty="0">
              <a:solidFill>
                <a:srgbClr val="20DDA6"/>
              </a:solidFill>
              <a:latin typeface="Candara Light" panose="020E0502030303020204" pitchFamily="34" charset="0"/>
            </a:endParaRPr>
          </a:p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Montée en compétences – 2h</a:t>
            </a:r>
          </a:p>
        </p:txBody>
      </p:sp>
    </p:spTree>
    <p:extLst>
      <p:ext uri="{BB962C8B-B14F-4D97-AF65-F5344CB8AC3E}">
        <p14:creationId xmlns:p14="http://schemas.microsoft.com/office/powerpoint/2010/main" val="3257227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CFCD-E36E-1D27-3F48-96945DE6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ED6A49D-4086-649C-7978-ABC48AFDE099}"/>
              </a:ext>
            </a:extLst>
          </p:cNvPr>
          <p:cNvSpPr txBox="1"/>
          <p:nvPr/>
        </p:nvSpPr>
        <p:spPr>
          <a:xfrm>
            <a:off x="6974263" y="2379279"/>
            <a:ext cx="457712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J3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9EA7A-32C5-1BE1-69AC-D81131EF17CE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792BD0D2-62CE-6722-15F8-E5444D008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C281980B-E00F-DD89-AC2E-F5A9E06CF283}"/>
              </a:ext>
            </a:extLst>
          </p:cNvPr>
          <p:cNvSpPr txBox="1"/>
          <p:nvPr/>
        </p:nvSpPr>
        <p:spPr>
          <a:xfrm>
            <a:off x="2398644" y="1351508"/>
            <a:ext cx="797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Révisions et ajustements – 7h</a:t>
            </a:r>
          </a:p>
        </p:txBody>
      </p:sp>
    </p:spTree>
    <p:extLst>
      <p:ext uri="{BB962C8B-B14F-4D97-AF65-F5344CB8AC3E}">
        <p14:creationId xmlns:p14="http://schemas.microsoft.com/office/powerpoint/2010/main" val="2362981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8D8E-D5DB-9851-F59F-2AF6881E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3EAAD07-F7C0-C4B5-16C9-51672878859B}"/>
              </a:ext>
            </a:extLst>
          </p:cNvPr>
          <p:cNvSpPr txBox="1"/>
          <p:nvPr/>
        </p:nvSpPr>
        <p:spPr>
          <a:xfrm>
            <a:off x="6974263" y="2379279"/>
            <a:ext cx="457712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J4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55D87B-075F-D4C3-D459-7A940AF4D187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F06B4CEC-CC6E-5767-3D11-631A18891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7B469E71-9E19-0A6F-A312-0707BAE08E09}"/>
              </a:ext>
            </a:extLst>
          </p:cNvPr>
          <p:cNvSpPr txBox="1"/>
          <p:nvPr/>
        </p:nvSpPr>
        <p:spPr>
          <a:xfrm>
            <a:off x="2398644" y="1351508"/>
            <a:ext cx="797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0DDA6"/>
                </a:solidFill>
                <a:latin typeface="Candara Light" panose="020E0502030303020204" pitchFamily="34" charset="0"/>
              </a:rPr>
              <a:t>Oraux – 7h</a:t>
            </a:r>
          </a:p>
        </p:txBody>
      </p:sp>
    </p:spTree>
    <p:extLst>
      <p:ext uri="{BB962C8B-B14F-4D97-AF65-F5344CB8AC3E}">
        <p14:creationId xmlns:p14="http://schemas.microsoft.com/office/powerpoint/2010/main" val="1268396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B7497E-97A3-4BAF-BBC4-0CB4EF2E15A6}"/>
              </a:ext>
            </a:extLst>
          </p:cNvPr>
          <p:cNvSpPr txBox="1"/>
          <p:nvPr/>
        </p:nvSpPr>
        <p:spPr>
          <a:xfrm>
            <a:off x="3050344" y="734560"/>
            <a:ext cx="60913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Candara Light" panose="020E0502030303020204" pitchFamily="34" charset="0"/>
              </a:rPr>
              <a:t>C’EST PARTI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0DDA6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AFFE6D5-FD14-411C-920C-12D7A054CA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2404" y="2014334"/>
            <a:ext cx="5087189" cy="4114800"/>
          </a:xfrm>
          <a:prstGeom prst="rect">
            <a:avLst/>
          </a:prstGeom>
        </p:spPr>
      </p:pic>
      <p:pic>
        <p:nvPicPr>
          <p:cNvPr id="7" name="Picture 4" descr="[webp-to-png output image]">
            <a:extLst>
              <a:ext uri="{FF2B5EF4-FFF2-40B4-BE49-F238E27FC236}">
                <a16:creationId xmlns:a16="http://schemas.microsoft.com/office/drawing/2014/main" id="{C133A036-7C4B-477B-A903-745E7DDCB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8863085-7F23-4C26-A0E9-9C975D89C092}"/>
              </a:ext>
            </a:extLst>
          </p:cNvPr>
          <p:cNvSpPr txBox="1"/>
          <p:nvPr/>
        </p:nvSpPr>
        <p:spPr>
          <a:xfrm>
            <a:off x="7937517" y="-106016"/>
            <a:ext cx="238177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5871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4743</TotalTime>
  <Words>257</Words>
  <Application>Microsoft Office PowerPoint</Application>
  <PresentationFormat>Grand écran</PresentationFormat>
  <Paragraphs>49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Arial</vt:lpstr>
      <vt:lpstr>Avenir Next LT Pro Demi</vt:lpstr>
      <vt:lpstr>Calibri</vt:lpstr>
      <vt:lpstr>Calibri Light</vt:lpstr>
      <vt:lpstr>Candara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Michael NGUYEN</cp:lastModifiedBy>
  <cp:revision>955</cp:revision>
  <dcterms:created xsi:type="dcterms:W3CDTF">2020-03-09T16:17:30Z</dcterms:created>
  <dcterms:modified xsi:type="dcterms:W3CDTF">2026-04-07T00:16:50Z</dcterms:modified>
</cp:coreProperties>
</file>