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1290" r:id="rId2"/>
    <p:sldId id="1298" r:id="rId3"/>
    <p:sldId id="1315" r:id="rId4"/>
    <p:sldId id="1314" r:id="rId5"/>
    <p:sldId id="1316" r:id="rId6"/>
    <p:sldId id="1317" r:id="rId7"/>
    <p:sldId id="1299" r:id="rId8"/>
    <p:sldId id="1318" r:id="rId9"/>
    <p:sldId id="1319" r:id="rId10"/>
    <p:sldId id="1320" r:id="rId11"/>
    <p:sldId id="1322" r:id="rId12"/>
    <p:sldId id="1291" r:id="rId13"/>
    <p:sldId id="1321" r:id="rId14"/>
    <p:sldId id="1300" r:id="rId15"/>
    <p:sldId id="1324" r:id="rId16"/>
    <p:sldId id="1325" r:id="rId17"/>
    <p:sldId id="1326" r:id="rId18"/>
    <p:sldId id="1327" r:id="rId19"/>
    <p:sldId id="1328" r:id="rId20"/>
    <p:sldId id="1329" r:id="rId21"/>
    <p:sldId id="1330" r:id="rId22"/>
    <p:sldId id="1331" r:id="rId23"/>
    <p:sldId id="1323" r:id="rId24"/>
    <p:sldId id="1301" r:id="rId25"/>
    <p:sldId id="1302" r:id="rId26"/>
    <p:sldId id="1303" r:id="rId27"/>
    <p:sldId id="1333" r:id="rId28"/>
    <p:sldId id="1332" r:id="rId29"/>
    <p:sldId id="1214" r:id="rId30"/>
    <p:sldId id="1304" r:id="rId31"/>
    <p:sldId id="1210" r:id="rId32"/>
    <p:sldId id="1198" r:id="rId33"/>
    <p:sldId id="1211" r:id="rId34"/>
    <p:sldId id="1197" r:id="rId35"/>
    <p:sldId id="1307" r:id="rId36"/>
    <p:sldId id="1312" r:id="rId37"/>
    <p:sldId id="1313" r:id="rId38"/>
    <p:sldId id="1305" r:id="rId39"/>
    <p:sldId id="1309" r:id="rId40"/>
    <p:sldId id="1308" r:id="rId41"/>
    <p:sldId id="1306" r:id="rId42"/>
    <p:sldId id="1310" r:id="rId43"/>
    <p:sldId id="1311" r:id="rId44"/>
    <p:sldId id="1334" r:id="rId45"/>
    <p:sldId id="1292" r:id="rId46"/>
    <p:sldId id="1294" r:id="rId47"/>
    <p:sldId id="1296" r:id="rId48"/>
    <p:sldId id="1335" r:id="rId49"/>
    <p:sldId id="1293" r:id="rId50"/>
    <p:sldId id="1295" r:id="rId51"/>
    <p:sldId id="1297" r:id="rId52"/>
    <p:sldId id="1336" r:id="rId53"/>
    <p:sldId id="1212" r:id="rId5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DA6"/>
    <a:srgbClr val="FF33CC"/>
    <a:srgbClr val="1E20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08" d="100"/>
          <a:sy n="108" d="100"/>
        </p:scale>
        <p:origin x="11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69C8B2-563D-4B86-8810-7A70C5EB458D}" type="datetimeFigureOut">
              <a:rPr lang="fr-FR" smtClean="0"/>
              <a:t>07/04/2026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1986FB-CE7B-4524-B039-5F61198D35B7}" type="slidenum">
              <a:rPr lang="fr-FR" smtClean="0"/>
              <a:t>‹N°›</a:t>
            </a:fld>
            <a:endParaRPr lang="fr-FR"/>
          </a:p>
        </p:txBody>
      </p:sp>
    </p:spTree>
    <p:extLst>
      <p:ext uri="{BB962C8B-B14F-4D97-AF65-F5344CB8AC3E}">
        <p14:creationId xmlns:p14="http://schemas.microsoft.com/office/powerpoint/2010/main" val="3003196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7415C-E7B3-8CAE-EB9B-0C51983EF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7D64D-9F35-4B04-FA46-C88460A00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21974A-A3C6-0C2B-B13F-BE8EC069A58C}"/>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8C672C48-8D16-0D68-2319-7C619737B594}"/>
              </a:ext>
            </a:extLst>
          </p:cNvPr>
          <p:cNvSpPr>
            <a:spLocks noGrp="1"/>
          </p:cNvSpPr>
          <p:nvPr>
            <p:ph type="sldNum" sz="quarter" idx="5"/>
          </p:nvPr>
        </p:nvSpPr>
        <p:spPr/>
        <p:txBody>
          <a:bodyPr/>
          <a:lstStyle/>
          <a:p>
            <a:fld id="{E8A0A5E5-EB8C-4B4B-BF2F-2EB5BD00CD66}" type="slidenum">
              <a:rPr lang="fr-FR" smtClean="0"/>
              <a:t>1</a:t>
            </a:fld>
            <a:endParaRPr lang="fr-FR"/>
          </a:p>
        </p:txBody>
      </p:sp>
    </p:spTree>
    <p:extLst>
      <p:ext uri="{BB962C8B-B14F-4D97-AF65-F5344CB8AC3E}">
        <p14:creationId xmlns:p14="http://schemas.microsoft.com/office/powerpoint/2010/main" val="1469100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37F0D-4E5B-3529-044F-4C9CA443A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A6F28-ADD8-D92A-8F0C-C6CA8B5C8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A1C77-4199-4C5A-247B-483E066C206B}"/>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D43BB7B6-8787-740C-A3D0-E1FF6B2190ED}"/>
              </a:ext>
            </a:extLst>
          </p:cNvPr>
          <p:cNvSpPr>
            <a:spLocks noGrp="1"/>
          </p:cNvSpPr>
          <p:nvPr>
            <p:ph type="sldNum" sz="quarter" idx="5"/>
          </p:nvPr>
        </p:nvSpPr>
        <p:spPr/>
        <p:txBody>
          <a:bodyPr/>
          <a:lstStyle/>
          <a:p>
            <a:fld id="{E8A0A5E5-EB8C-4B4B-BF2F-2EB5BD00CD66}" type="slidenum">
              <a:rPr lang="fr-FR" smtClean="0"/>
              <a:t>4</a:t>
            </a:fld>
            <a:endParaRPr lang="fr-FR"/>
          </a:p>
        </p:txBody>
      </p:sp>
    </p:spTree>
    <p:extLst>
      <p:ext uri="{BB962C8B-B14F-4D97-AF65-F5344CB8AC3E}">
        <p14:creationId xmlns:p14="http://schemas.microsoft.com/office/powerpoint/2010/main" val="288580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712C6-3603-2927-1175-BA9D76950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649703-D76E-DA25-1BD2-DB52FBA0E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4B157-AAC7-5375-6A51-D968D0E1AEE4}"/>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5B1AB5F7-D62B-B2C5-1FB7-00C687BC66C0}"/>
              </a:ext>
            </a:extLst>
          </p:cNvPr>
          <p:cNvSpPr>
            <a:spLocks noGrp="1"/>
          </p:cNvSpPr>
          <p:nvPr>
            <p:ph type="sldNum" sz="quarter" idx="5"/>
          </p:nvPr>
        </p:nvSpPr>
        <p:spPr/>
        <p:txBody>
          <a:bodyPr/>
          <a:lstStyle/>
          <a:p>
            <a:fld id="{E8A0A5E5-EB8C-4B4B-BF2F-2EB5BD00CD66}" type="slidenum">
              <a:rPr lang="fr-FR" smtClean="0"/>
              <a:t>5</a:t>
            </a:fld>
            <a:endParaRPr lang="fr-FR"/>
          </a:p>
        </p:txBody>
      </p:sp>
    </p:spTree>
    <p:extLst>
      <p:ext uri="{BB962C8B-B14F-4D97-AF65-F5344CB8AC3E}">
        <p14:creationId xmlns:p14="http://schemas.microsoft.com/office/powerpoint/2010/main" val="38735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67C5-BE76-BBCC-0181-7A422E266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F5932-75BE-A9B5-D87F-0AC7A54B7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E77CB7-2903-A042-3A12-C23194546D80}"/>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A3CD6945-637F-4D1D-9200-081CC1F223B9}"/>
              </a:ext>
            </a:extLst>
          </p:cNvPr>
          <p:cNvSpPr>
            <a:spLocks noGrp="1"/>
          </p:cNvSpPr>
          <p:nvPr>
            <p:ph type="sldNum" sz="quarter" idx="5"/>
          </p:nvPr>
        </p:nvSpPr>
        <p:spPr/>
        <p:txBody>
          <a:bodyPr/>
          <a:lstStyle/>
          <a:p>
            <a:fld id="{E8A0A5E5-EB8C-4B4B-BF2F-2EB5BD00CD66}" type="slidenum">
              <a:rPr lang="fr-FR" smtClean="0"/>
              <a:t>11</a:t>
            </a:fld>
            <a:endParaRPr lang="fr-FR"/>
          </a:p>
        </p:txBody>
      </p:sp>
    </p:spTree>
    <p:extLst>
      <p:ext uri="{BB962C8B-B14F-4D97-AF65-F5344CB8AC3E}">
        <p14:creationId xmlns:p14="http://schemas.microsoft.com/office/powerpoint/2010/main" val="3221564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0CE0-C725-768D-DAFA-09A43ECE0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410E5-9844-8D0F-E033-49C62546E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18A5B-A19B-2ADF-35D8-C9E48702C37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4A616D4B-5C07-9814-ED86-5C15D192DDEC}"/>
              </a:ext>
            </a:extLst>
          </p:cNvPr>
          <p:cNvSpPr>
            <a:spLocks noGrp="1"/>
          </p:cNvSpPr>
          <p:nvPr>
            <p:ph type="sldNum" sz="quarter" idx="5"/>
          </p:nvPr>
        </p:nvSpPr>
        <p:spPr/>
        <p:txBody>
          <a:bodyPr/>
          <a:lstStyle/>
          <a:p>
            <a:fld id="{E8A0A5E5-EB8C-4B4B-BF2F-2EB5BD00CD66}" type="slidenum">
              <a:rPr lang="fr-FR" smtClean="0"/>
              <a:t>12</a:t>
            </a:fld>
            <a:endParaRPr lang="fr-FR"/>
          </a:p>
        </p:txBody>
      </p:sp>
    </p:spTree>
    <p:extLst>
      <p:ext uri="{BB962C8B-B14F-4D97-AF65-F5344CB8AC3E}">
        <p14:creationId xmlns:p14="http://schemas.microsoft.com/office/powerpoint/2010/main" val="3673621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6A826-E0E6-C96F-7422-0F4499AB7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BD627-851F-FE84-42CC-3E44A803F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19343-104B-2C49-153E-6E7FD7036A90}"/>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6F55E749-20B5-37D4-2C62-9D2232C032F8}"/>
              </a:ext>
            </a:extLst>
          </p:cNvPr>
          <p:cNvSpPr>
            <a:spLocks noGrp="1"/>
          </p:cNvSpPr>
          <p:nvPr>
            <p:ph type="sldNum" sz="quarter" idx="5"/>
          </p:nvPr>
        </p:nvSpPr>
        <p:spPr/>
        <p:txBody>
          <a:bodyPr/>
          <a:lstStyle/>
          <a:p>
            <a:fld id="{E8A0A5E5-EB8C-4B4B-BF2F-2EB5BD00CD66}" type="slidenum">
              <a:rPr lang="fr-FR" smtClean="0"/>
              <a:t>21</a:t>
            </a:fld>
            <a:endParaRPr lang="fr-FR"/>
          </a:p>
        </p:txBody>
      </p:sp>
    </p:spTree>
    <p:extLst>
      <p:ext uri="{BB962C8B-B14F-4D97-AF65-F5344CB8AC3E}">
        <p14:creationId xmlns:p14="http://schemas.microsoft.com/office/powerpoint/2010/main" val="28601840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E7703-D505-2385-55E4-3427AE7C8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020EB-12EE-4270-F3E6-DFCB009DC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D90DEE-88B5-344E-2E6B-1B8D21F94EF4}"/>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5FEAA4AC-F65D-B477-4A17-FC49E6A23C3C}"/>
              </a:ext>
            </a:extLst>
          </p:cNvPr>
          <p:cNvSpPr>
            <a:spLocks noGrp="1"/>
          </p:cNvSpPr>
          <p:nvPr>
            <p:ph type="sldNum" sz="quarter" idx="5"/>
          </p:nvPr>
        </p:nvSpPr>
        <p:spPr/>
        <p:txBody>
          <a:bodyPr/>
          <a:lstStyle/>
          <a:p>
            <a:fld id="{E8A0A5E5-EB8C-4B4B-BF2F-2EB5BD00CD66}" type="slidenum">
              <a:rPr lang="fr-FR" smtClean="0"/>
              <a:t>22</a:t>
            </a:fld>
            <a:endParaRPr lang="fr-FR"/>
          </a:p>
        </p:txBody>
      </p:sp>
    </p:spTree>
    <p:extLst>
      <p:ext uri="{BB962C8B-B14F-4D97-AF65-F5344CB8AC3E}">
        <p14:creationId xmlns:p14="http://schemas.microsoft.com/office/powerpoint/2010/main" val="967098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85F19-D181-9E7B-CAEA-CE4121F8AD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055AD-F5A8-06CF-DE54-D7449CFCB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73585-A9A1-D58F-43ED-C335EA1063C1}"/>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915945B9-2DBE-0169-B116-7123DF724EFC}"/>
              </a:ext>
            </a:extLst>
          </p:cNvPr>
          <p:cNvSpPr>
            <a:spLocks noGrp="1"/>
          </p:cNvSpPr>
          <p:nvPr>
            <p:ph type="sldNum" sz="quarter" idx="5"/>
          </p:nvPr>
        </p:nvSpPr>
        <p:spPr/>
        <p:txBody>
          <a:bodyPr/>
          <a:lstStyle/>
          <a:p>
            <a:fld id="{E8A0A5E5-EB8C-4B4B-BF2F-2EB5BD00CD66}" type="slidenum">
              <a:rPr lang="fr-FR" smtClean="0"/>
              <a:t>23</a:t>
            </a:fld>
            <a:endParaRPr lang="fr-FR"/>
          </a:p>
        </p:txBody>
      </p:sp>
    </p:spTree>
    <p:extLst>
      <p:ext uri="{BB962C8B-B14F-4D97-AF65-F5344CB8AC3E}">
        <p14:creationId xmlns:p14="http://schemas.microsoft.com/office/powerpoint/2010/main" val="2023975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A01D-9E00-519C-9831-C6E818529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BCD6D-A477-481E-ECCF-8D097E5EAA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8DEEF-0265-9E54-986F-1089790D970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5F6CA9D-B801-E427-6812-E240A7CA3123}"/>
              </a:ext>
            </a:extLst>
          </p:cNvPr>
          <p:cNvSpPr>
            <a:spLocks noGrp="1"/>
          </p:cNvSpPr>
          <p:nvPr>
            <p:ph type="sldNum" sz="quarter" idx="5"/>
          </p:nvPr>
        </p:nvSpPr>
        <p:spPr/>
        <p:txBody>
          <a:bodyPr/>
          <a:lstStyle/>
          <a:p>
            <a:fld id="{E8A0A5E5-EB8C-4B4B-BF2F-2EB5BD00CD66}" type="slidenum">
              <a:rPr lang="fr-FR" smtClean="0"/>
              <a:t>28</a:t>
            </a:fld>
            <a:endParaRPr lang="fr-FR"/>
          </a:p>
        </p:txBody>
      </p:sp>
    </p:spTree>
    <p:extLst>
      <p:ext uri="{BB962C8B-B14F-4D97-AF65-F5344CB8AC3E}">
        <p14:creationId xmlns:p14="http://schemas.microsoft.com/office/powerpoint/2010/main" val="2101759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E8A0A5E5-EB8C-4B4B-BF2F-2EB5BD00CD66}" type="slidenum">
              <a:rPr lang="fr-FR" smtClean="0"/>
              <a:t>29</a:t>
            </a:fld>
            <a:endParaRPr lang="fr-FR"/>
          </a:p>
        </p:txBody>
      </p:sp>
    </p:spTree>
    <p:extLst>
      <p:ext uri="{BB962C8B-B14F-4D97-AF65-F5344CB8AC3E}">
        <p14:creationId xmlns:p14="http://schemas.microsoft.com/office/powerpoint/2010/main" val="3174294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E8A0A5E5-EB8C-4B4B-BF2F-2EB5BD00CD66}" type="slidenum">
              <a:rPr lang="fr-FR" smtClean="0"/>
              <a:t>32</a:t>
            </a:fld>
            <a:endParaRPr lang="fr-FR"/>
          </a:p>
        </p:txBody>
      </p:sp>
    </p:spTree>
    <p:extLst>
      <p:ext uri="{BB962C8B-B14F-4D97-AF65-F5344CB8AC3E}">
        <p14:creationId xmlns:p14="http://schemas.microsoft.com/office/powerpoint/2010/main" val="1208226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E8A0A5E5-EB8C-4B4B-BF2F-2EB5BD00CD66}" type="slidenum">
              <a:rPr lang="fr-FR" smtClean="0"/>
              <a:t>34</a:t>
            </a:fld>
            <a:endParaRPr lang="fr-FR"/>
          </a:p>
        </p:txBody>
      </p:sp>
    </p:spTree>
    <p:extLst>
      <p:ext uri="{BB962C8B-B14F-4D97-AF65-F5344CB8AC3E}">
        <p14:creationId xmlns:p14="http://schemas.microsoft.com/office/powerpoint/2010/main" val="2104532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775C5-DD8E-74F8-E12C-D15DD0D4F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9E047-C723-9F88-8FF0-88F1451F9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C8B5C3-0C6C-D189-1EBE-28BC93BC1BDC}"/>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D7DA19CD-F2D6-E6CC-6B89-90FB6CFD5053}"/>
              </a:ext>
            </a:extLst>
          </p:cNvPr>
          <p:cNvSpPr>
            <a:spLocks noGrp="1"/>
          </p:cNvSpPr>
          <p:nvPr>
            <p:ph type="sldNum" sz="quarter" idx="5"/>
          </p:nvPr>
        </p:nvSpPr>
        <p:spPr/>
        <p:txBody>
          <a:bodyPr/>
          <a:lstStyle/>
          <a:p>
            <a:fld id="{E8A0A5E5-EB8C-4B4B-BF2F-2EB5BD00CD66}" type="slidenum">
              <a:rPr lang="fr-FR" smtClean="0"/>
              <a:t>35</a:t>
            </a:fld>
            <a:endParaRPr lang="fr-FR"/>
          </a:p>
        </p:txBody>
      </p:sp>
    </p:spTree>
    <p:extLst>
      <p:ext uri="{BB962C8B-B14F-4D97-AF65-F5344CB8AC3E}">
        <p14:creationId xmlns:p14="http://schemas.microsoft.com/office/powerpoint/2010/main" val="354226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7F824-444E-D601-EC4F-28E99960F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372C9-4DE7-90FA-D3EF-236B79719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C26F7-7089-BDD5-8A94-B36FFCACC45A}"/>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DDD662BD-C7D9-2E7C-AE80-B0121D1468F7}"/>
              </a:ext>
            </a:extLst>
          </p:cNvPr>
          <p:cNvSpPr>
            <a:spLocks noGrp="1"/>
          </p:cNvSpPr>
          <p:nvPr>
            <p:ph type="sldNum" sz="quarter" idx="5"/>
          </p:nvPr>
        </p:nvSpPr>
        <p:spPr/>
        <p:txBody>
          <a:bodyPr/>
          <a:lstStyle/>
          <a:p>
            <a:fld id="{E8A0A5E5-EB8C-4B4B-BF2F-2EB5BD00CD66}" type="slidenum">
              <a:rPr lang="fr-FR" smtClean="0"/>
              <a:t>39</a:t>
            </a:fld>
            <a:endParaRPr lang="fr-FR"/>
          </a:p>
        </p:txBody>
      </p:sp>
    </p:spTree>
    <p:extLst>
      <p:ext uri="{BB962C8B-B14F-4D97-AF65-F5344CB8AC3E}">
        <p14:creationId xmlns:p14="http://schemas.microsoft.com/office/powerpoint/2010/main" val="1296144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256FF-3133-B5D8-A176-F66F655593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893C00-16EC-C818-C94E-28E4A43F7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40D9C-982F-12EC-C89C-9260313ED67F}"/>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2AA12705-FF62-BB27-36B8-CD1893BA9247}"/>
              </a:ext>
            </a:extLst>
          </p:cNvPr>
          <p:cNvSpPr>
            <a:spLocks noGrp="1"/>
          </p:cNvSpPr>
          <p:nvPr>
            <p:ph type="sldNum" sz="quarter" idx="5"/>
          </p:nvPr>
        </p:nvSpPr>
        <p:spPr/>
        <p:txBody>
          <a:bodyPr/>
          <a:lstStyle/>
          <a:p>
            <a:fld id="{E8A0A5E5-EB8C-4B4B-BF2F-2EB5BD00CD66}" type="slidenum">
              <a:rPr lang="fr-FR" smtClean="0"/>
              <a:t>42</a:t>
            </a:fld>
            <a:endParaRPr lang="fr-FR"/>
          </a:p>
        </p:txBody>
      </p:sp>
    </p:spTree>
    <p:extLst>
      <p:ext uri="{BB962C8B-B14F-4D97-AF65-F5344CB8AC3E}">
        <p14:creationId xmlns:p14="http://schemas.microsoft.com/office/powerpoint/2010/main" val="469342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672AB-1535-11B6-4C65-078E2460A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6FB5B-5C35-10EA-530E-187860E03C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B6BE4-D654-CD5D-E1DE-61A46ED7EC8C}"/>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01AB3A91-DAF0-D651-2DFC-D5CA12FEB862}"/>
              </a:ext>
            </a:extLst>
          </p:cNvPr>
          <p:cNvSpPr>
            <a:spLocks noGrp="1"/>
          </p:cNvSpPr>
          <p:nvPr>
            <p:ph type="sldNum" sz="quarter" idx="5"/>
          </p:nvPr>
        </p:nvSpPr>
        <p:spPr/>
        <p:txBody>
          <a:bodyPr/>
          <a:lstStyle/>
          <a:p>
            <a:fld id="{E8A0A5E5-EB8C-4B4B-BF2F-2EB5BD00CD66}" type="slidenum">
              <a:rPr lang="fr-FR" smtClean="0"/>
              <a:t>44</a:t>
            </a:fld>
            <a:endParaRPr lang="fr-FR"/>
          </a:p>
        </p:txBody>
      </p:sp>
    </p:spTree>
    <p:extLst>
      <p:ext uri="{BB962C8B-B14F-4D97-AF65-F5344CB8AC3E}">
        <p14:creationId xmlns:p14="http://schemas.microsoft.com/office/powerpoint/2010/main" val="3549061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60766-F92C-8DB6-E3F7-611764DF2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6C367-4C74-ABD2-DB4D-9B0D26A66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30E46-295E-0802-A58F-7174084F6C8B}"/>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84B2A70C-2E57-87E3-0962-F5B0BC366503}"/>
              </a:ext>
            </a:extLst>
          </p:cNvPr>
          <p:cNvSpPr>
            <a:spLocks noGrp="1"/>
          </p:cNvSpPr>
          <p:nvPr>
            <p:ph type="sldNum" sz="quarter" idx="5"/>
          </p:nvPr>
        </p:nvSpPr>
        <p:spPr/>
        <p:txBody>
          <a:bodyPr/>
          <a:lstStyle/>
          <a:p>
            <a:fld id="{E8A0A5E5-EB8C-4B4B-BF2F-2EB5BD00CD66}" type="slidenum">
              <a:rPr lang="fr-FR" smtClean="0"/>
              <a:t>45</a:t>
            </a:fld>
            <a:endParaRPr lang="fr-FR"/>
          </a:p>
        </p:txBody>
      </p:sp>
    </p:spTree>
    <p:extLst>
      <p:ext uri="{BB962C8B-B14F-4D97-AF65-F5344CB8AC3E}">
        <p14:creationId xmlns:p14="http://schemas.microsoft.com/office/powerpoint/2010/main" val="29955246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57F3F-408B-6C44-A22F-CC5E2904F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BB95B-6F6F-4ADB-1725-D5B6AC443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D42FE-4606-D68A-8EAE-640410EA09D0}"/>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AB6B15A3-8141-FBA8-A783-CA591D23A392}"/>
              </a:ext>
            </a:extLst>
          </p:cNvPr>
          <p:cNvSpPr>
            <a:spLocks noGrp="1"/>
          </p:cNvSpPr>
          <p:nvPr>
            <p:ph type="sldNum" sz="quarter" idx="5"/>
          </p:nvPr>
        </p:nvSpPr>
        <p:spPr/>
        <p:txBody>
          <a:bodyPr/>
          <a:lstStyle/>
          <a:p>
            <a:fld id="{E8A0A5E5-EB8C-4B4B-BF2F-2EB5BD00CD66}" type="slidenum">
              <a:rPr lang="fr-FR" smtClean="0"/>
              <a:t>48</a:t>
            </a:fld>
            <a:endParaRPr lang="fr-FR"/>
          </a:p>
        </p:txBody>
      </p:sp>
    </p:spTree>
    <p:extLst>
      <p:ext uri="{BB962C8B-B14F-4D97-AF65-F5344CB8AC3E}">
        <p14:creationId xmlns:p14="http://schemas.microsoft.com/office/powerpoint/2010/main" val="2215039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2315B-E94F-F511-BBAB-A10A02F2D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D1393-8864-A28B-89B9-A8AFACF797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17A40-ABEE-541A-B32F-6D246199290F}"/>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81A254F-23F4-C193-27BA-2A090E95DC80}"/>
              </a:ext>
            </a:extLst>
          </p:cNvPr>
          <p:cNvSpPr>
            <a:spLocks noGrp="1"/>
          </p:cNvSpPr>
          <p:nvPr>
            <p:ph type="sldNum" sz="quarter" idx="5"/>
          </p:nvPr>
        </p:nvSpPr>
        <p:spPr/>
        <p:txBody>
          <a:bodyPr/>
          <a:lstStyle/>
          <a:p>
            <a:fld id="{E8A0A5E5-EB8C-4B4B-BF2F-2EB5BD00CD66}" type="slidenum">
              <a:rPr lang="fr-FR" smtClean="0"/>
              <a:t>49</a:t>
            </a:fld>
            <a:endParaRPr lang="fr-FR"/>
          </a:p>
        </p:txBody>
      </p:sp>
    </p:spTree>
    <p:extLst>
      <p:ext uri="{BB962C8B-B14F-4D97-AF65-F5344CB8AC3E}">
        <p14:creationId xmlns:p14="http://schemas.microsoft.com/office/powerpoint/2010/main" val="2447187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584B6-BD1C-9E62-FCB2-DBE65703F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BB7E1-C613-2C95-9F7A-37197B31E9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7C385-5294-AA85-FB9E-5300082955C0}"/>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CB95C52E-D768-8E4D-5B15-04E28D80D70E}"/>
              </a:ext>
            </a:extLst>
          </p:cNvPr>
          <p:cNvSpPr>
            <a:spLocks noGrp="1"/>
          </p:cNvSpPr>
          <p:nvPr>
            <p:ph type="sldNum" sz="quarter" idx="5"/>
          </p:nvPr>
        </p:nvSpPr>
        <p:spPr/>
        <p:txBody>
          <a:bodyPr/>
          <a:lstStyle/>
          <a:p>
            <a:fld id="{E8A0A5E5-EB8C-4B4B-BF2F-2EB5BD00CD66}" type="slidenum">
              <a:rPr lang="fr-FR" smtClean="0"/>
              <a:t>52</a:t>
            </a:fld>
            <a:endParaRPr lang="fr-FR"/>
          </a:p>
        </p:txBody>
      </p:sp>
    </p:spTree>
    <p:extLst>
      <p:ext uri="{BB962C8B-B14F-4D97-AF65-F5344CB8AC3E}">
        <p14:creationId xmlns:p14="http://schemas.microsoft.com/office/powerpoint/2010/main" val="2154092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F47C-4F49-49F8-9C42-DE0FAA95C5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FR"/>
          </a:p>
        </p:txBody>
      </p:sp>
      <p:sp>
        <p:nvSpPr>
          <p:cNvPr id="3" name="Subtitle 2">
            <a:extLst>
              <a:ext uri="{FF2B5EF4-FFF2-40B4-BE49-F238E27FC236}">
                <a16:creationId xmlns:a16="http://schemas.microsoft.com/office/drawing/2014/main" id="{43458EE2-56D1-413B-A2BC-5CCCC0DDD4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4" name="Date Placeholder 3">
            <a:extLst>
              <a:ext uri="{FF2B5EF4-FFF2-40B4-BE49-F238E27FC236}">
                <a16:creationId xmlns:a16="http://schemas.microsoft.com/office/drawing/2014/main" id="{935A3794-88A6-41D0-A065-8691CD597A65}"/>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5" name="Footer Placeholder 4">
            <a:extLst>
              <a:ext uri="{FF2B5EF4-FFF2-40B4-BE49-F238E27FC236}">
                <a16:creationId xmlns:a16="http://schemas.microsoft.com/office/drawing/2014/main" id="{7702AD68-29F0-4103-AB81-705C68FDD29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E25963F-F544-4338-A3C0-19B02198CE9A}"/>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264035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AF230-40ED-4AEC-B4A7-BCC9E10E7D3C}"/>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81721B84-F3D8-4C24-BCC6-35C4D778F9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5359B91B-34CB-4B2B-ACE1-B9103B58D957}"/>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5" name="Footer Placeholder 4">
            <a:extLst>
              <a:ext uri="{FF2B5EF4-FFF2-40B4-BE49-F238E27FC236}">
                <a16:creationId xmlns:a16="http://schemas.microsoft.com/office/drawing/2014/main" id="{66748DA9-2E84-454C-B4CB-D5CD6D01DC67}"/>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07F57CFB-3CE0-4A17-9F43-97DBB1C17327}"/>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2893901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64106-A0AC-49AA-A5B2-AA1E94390C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FR"/>
          </a:p>
        </p:txBody>
      </p:sp>
      <p:sp>
        <p:nvSpPr>
          <p:cNvPr id="3" name="Text Placeholder 2">
            <a:extLst>
              <a:ext uri="{FF2B5EF4-FFF2-40B4-BE49-F238E27FC236}">
                <a16:creationId xmlns:a16="http://schemas.microsoft.com/office/drawing/2014/main" id="{4770556F-50E9-46C1-85A6-75F3FF015B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902119-DB4E-4F0A-B31F-C639EC10B72F}"/>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5" name="Footer Placeholder 4">
            <a:extLst>
              <a:ext uri="{FF2B5EF4-FFF2-40B4-BE49-F238E27FC236}">
                <a16:creationId xmlns:a16="http://schemas.microsoft.com/office/drawing/2014/main" id="{3AF344F0-5EB9-45CF-B3AE-4136B69834E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B5AA8AA9-1C11-4B38-98EB-BE0BD07C787C}"/>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1176774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CBC2F-4B47-4003-AEB8-93F284CB2FBD}"/>
              </a:ext>
            </a:extLst>
          </p:cNvPr>
          <p:cNvSpPr>
            <a:spLocks noGrp="1"/>
          </p:cNvSpPr>
          <p:nvPr>
            <p:ph type="title"/>
          </p:nvPr>
        </p:nvSpPr>
        <p:spPr/>
        <p:txBody>
          <a:bodyPr/>
          <a:lstStyle/>
          <a:p>
            <a:r>
              <a:rPr lang="en-US"/>
              <a:t>Click to edit Master title style</a:t>
            </a:r>
            <a:endParaRPr lang="fr-FR"/>
          </a:p>
        </p:txBody>
      </p:sp>
      <p:sp>
        <p:nvSpPr>
          <p:cNvPr id="3" name="Content Placeholder 2">
            <a:extLst>
              <a:ext uri="{FF2B5EF4-FFF2-40B4-BE49-F238E27FC236}">
                <a16:creationId xmlns:a16="http://schemas.microsoft.com/office/drawing/2014/main" id="{C362AA17-9897-4E83-9320-774E394052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a:extLst>
              <a:ext uri="{FF2B5EF4-FFF2-40B4-BE49-F238E27FC236}">
                <a16:creationId xmlns:a16="http://schemas.microsoft.com/office/drawing/2014/main" id="{7C434AE3-8DF7-49C0-AB22-AF7AD7F277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a:extLst>
              <a:ext uri="{FF2B5EF4-FFF2-40B4-BE49-F238E27FC236}">
                <a16:creationId xmlns:a16="http://schemas.microsoft.com/office/drawing/2014/main" id="{9C94D548-4E1C-49EA-AE49-546A569BA147}"/>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6" name="Footer Placeholder 5">
            <a:extLst>
              <a:ext uri="{FF2B5EF4-FFF2-40B4-BE49-F238E27FC236}">
                <a16:creationId xmlns:a16="http://schemas.microsoft.com/office/drawing/2014/main" id="{22DA985F-3874-4E1F-8BDC-A0BE9E901C8C}"/>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8841CB89-5C26-4741-B019-926066D6A60B}"/>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641315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E3D8-4E0F-4BF8-A217-53E3BFD8B90F}"/>
              </a:ext>
            </a:extLst>
          </p:cNvPr>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a:extLst>
              <a:ext uri="{FF2B5EF4-FFF2-40B4-BE49-F238E27FC236}">
                <a16:creationId xmlns:a16="http://schemas.microsoft.com/office/drawing/2014/main" id="{3A324339-8E55-4EC4-AA88-97EA117FB6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AE4587-E1F7-4BED-A562-CFF4471AF4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a:extLst>
              <a:ext uri="{FF2B5EF4-FFF2-40B4-BE49-F238E27FC236}">
                <a16:creationId xmlns:a16="http://schemas.microsoft.com/office/drawing/2014/main" id="{D7C3F72E-4BEE-424D-9187-B9E12CBD05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E8EAAC-0EA9-4AB0-90BD-D5A6E5F111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a:extLst>
              <a:ext uri="{FF2B5EF4-FFF2-40B4-BE49-F238E27FC236}">
                <a16:creationId xmlns:a16="http://schemas.microsoft.com/office/drawing/2014/main" id="{9B74A913-BE82-4B21-9379-A22B7F45B624}"/>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8" name="Footer Placeholder 7">
            <a:extLst>
              <a:ext uri="{FF2B5EF4-FFF2-40B4-BE49-F238E27FC236}">
                <a16:creationId xmlns:a16="http://schemas.microsoft.com/office/drawing/2014/main" id="{D27DDF37-A39F-447D-B9DC-BEB35D9A5B84}"/>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A473E685-2551-44D9-85A6-CF0D9464EC1E}"/>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265351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D5589-CDDB-4F15-9899-58A2F3876EDE}"/>
              </a:ext>
            </a:extLst>
          </p:cNvPr>
          <p:cNvSpPr>
            <a:spLocks noGrp="1"/>
          </p:cNvSpPr>
          <p:nvPr>
            <p:ph type="title"/>
          </p:nvPr>
        </p:nvSpPr>
        <p:spPr/>
        <p:txBody>
          <a:bodyPr/>
          <a:lstStyle/>
          <a:p>
            <a:r>
              <a:rPr lang="en-US"/>
              <a:t>Click to edit Master title style</a:t>
            </a:r>
            <a:endParaRPr lang="fr-FR"/>
          </a:p>
        </p:txBody>
      </p:sp>
      <p:sp>
        <p:nvSpPr>
          <p:cNvPr id="3" name="Date Placeholder 2">
            <a:extLst>
              <a:ext uri="{FF2B5EF4-FFF2-40B4-BE49-F238E27FC236}">
                <a16:creationId xmlns:a16="http://schemas.microsoft.com/office/drawing/2014/main" id="{C53E3416-F461-48EB-B7B5-F3622440B564}"/>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4" name="Footer Placeholder 3">
            <a:extLst>
              <a:ext uri="{FF2B5EF4-FFF2-40B4-BE49-F238E27FC236}">
                <a16:creationId xmlns:a16="http://schemas.microsoft.com/office/drawing/2014/main" id="{6E685A77-B3D6-4E74-9B59-0B35E57B11AF}"/>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E094366A-844A-4ADC-97F0-DDA062D64FF2}"/>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2671154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515D7E-2A33-41BF-AE56-64518429D4B0}"/>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3" name="Footer Placeholder 2">
            <a:extLst>
              <a:ext uri="{FF2B5EF4-FFF2-40B4-BE49-F238E27FC236}">
                <a16:creationId xmlns:a16="http://schemas.microsoft.com/office/drawing/2014/main" id="{6D2FD19B-C4FE-4158-9DD8-A36606251350}"/>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044A8F5F-4D3B-4D8C-897D-D720B6443681}"/>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390988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0A4A9-CDE3-4A74-8733-ADB65A691C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a:extLst>
              <a:ext uri="{FF2B5EF4-FFF2-40B4-BE49-F238E27FC236}">
                <a16:creationId xmlns:a16="http://schemas.microsoft.com/office/drawing/2014/main" id="{69DBF1BC-F109-4376-8CD2-126C978C77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a:extLst>
              <a:ext uri="{FF2B5EF4-FFF2-40B4-BE49-F238E27FC236}">
                <a16:creationId xmlns:a16="http://schemas.microsoft.com/office/drawing/2014/main" id="{59ECF4AF-9BBD-4579-B3E7-7C78F49FC9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9431B2-1FD6-473A-8128-5EE62F6996BC}"/>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6" name="Footer Placeholder 5">
            <a:extLst>
              <a:ext uri="{FF2B5EF4-FFF2-40B4-BE49-F238E27FC236}">
                <a16:creationId xmlns:a16="http://schemas.microsoft.com/office/drawing/2014/main" id="{829E8DB1-57A3-4726-BBBD-BA11DA20340F}"/>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215F88ED-38BE-46BE-A8FD-E3BE3ADF86AA}"/>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3252114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4C590-386D-4065-BE6D-A7BE7DBF9E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a:extLst>
              <a:ext uri="{FF2B5EF4-FFF2-40B4-BE49-F238E27FC236}">
                <a16:creationId xmlns:a16="http://schemas.microsoft.com/office/drawing/2014/main" id="{CDD2CFA4-04E8-4EE4-AE9E-00671A9386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1C8B8B1E-C6C5-491E-9C87-A18E1A96F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62A70E-F0A2-4150-B766-968DC8895E81}"/>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6" name="Footer Placeholder 5">
            <a:extLst>
              <a:ext uri="{FF2B5EF4-FFF2-40B4-BE49-F238E27FC236}">
                <a16:creationId xmlns:a16="http://schemas.microsoft.com/office/drawing/2014/main" id="{3B615154-33A5-40A9-B1ED-463E5234262B}"/>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EC7E68F1-590F-4F38-BDD7-1D0B9FAD44D1}"/>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3515890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1F8E3-6F63-40D8-BFD0-E8848ABAD6BF}"/>
              </a:ext>
            </a:extLst>
          </p:cNvPr>
          <p:cNvSpPr>
            <a:spLocks noGrp="1"/>
          </p:cNvSpPr>
          <p:nvPr>
            <p:ph type="title"/>
          </p:nvPr>
        </p:nvSpPr>
        <p:spPr/>
        <p:txBody>
          <a:bodyPr/>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A8A94DFF-158A-4165-87AC-1E3F939D73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F81608E2-B5FF-4157-84B4-FC7F91983F94}"/>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5" name="Footer Placeholder 4">
            <a:extLst>
              <a:ext uri="{FF2B5EF4-FFF2-40B4-BE49-F238E27FC236}">
                <a16:creationId xmlns:a16="http://schemas.microsoft.com/office/drawing/2014/main" id="{D7992CAE-56AE-4592-AAB3-3E4BAF33293D}"/>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C76B7430-4F00-4D65-A4CF-6BA6DD1A0236}"/>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3066829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16AEB0-9FE5-4B61-BC60-F69C401740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a:extLst>
              <a:ext uri="{FF2B5EF4-FFF2-40B4-BE49-F238E27FC236}">
                <a16:creationId xmlns:a16="http://schemas.microsoft.com/office/drawing/2014/main" id="{7BD89088-5337-4BEA-85FC-9B0059EAF2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F9951EE8-16A6-4369-936B-9472F50233ED}"/>
              </a:ext>
            </a:extLst>
          </p:cNvPr>
          <p:cNvSpPr>
            <a:spLocks noGrp="1"/>
          </p:cNvSpPr>
          <p:nvPr>
            <p:ph type="dt" sz="half" idx="10"/>
          </p:nvPr>
        </p:nvSpPr>
        <p:spPr/>
        <p:txBody>
          <a:bodyPr/>
          <a:lstStyle/>
          <a:p>
            <a:fld id="{F52FC3B2-E476-48C7-91D7-0AAD39A8F303}" type="datetimeFigureOut">
              <a:rPr lang="fr-FR" smtClean="0"/>
              <a:t>07/04/2026</a:t>
            </a:fld>
            <a:endParaRPr lang="fr-FR"/>
          </a:p>
        </p:txBody>
      </p:sp>
      <p:sp>
        <p:nvSpPr>
          <p:cNvPr id="5" name="Footer Placeholder 4">
            <a:extLst>
              <a:ext uri="{FF2B5EF4-FFF2-40B4-BE49-F238E27FC236}">
                <a16:creationId xmlns:a16="http://schemas.microsoft.com/office/drawing/2014/main" id="{6102DF00-1E38-4D2D-A574-868A8653245F}"/>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CB5D5F9-B62F-476A-AEC5-05CA8B43139A}"/>
              </a:ext>
            </a:extLst>
          </p:cNvPr>
          <p:cNvSpPr>
            <a:spLocks noGrp="1"/>
          </p:cNvSpPr>
          <p:nvPr>
            <p:ph type="sldNum" sz="quarter" idx="12"/>
          </p:nvPr>
        </p:nvSpPr>
        <p:spPr/>
        <p:txBody>
          <a:bodyPr/>
          <a:lstStyle/>
          <a:p>
            <a:fld id="{E77EF88F-B941-417C-A31E-8F7C4E3B7A26}" type="slidenum">
              <a:rPr lang="fr-FR" smtClean="0"/>
              <a:t>‹N°›</a:t>
            </a:fld>
            <a:endParaRPr lang="fr-FR"/>
          </a:p>
        </p:txBody>
      </p:sp>
    </p:spTree>
    <p:extLst>
      <p:ext uri="{BB962C8B-B14F-4D97-AF65-F5344CB8AC3E}">
        <p14:creationId xmlns:p14="http://schemas.microsoft.com/office/powerpoint/2010/main" val="919861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E204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D567AF-9C6A-4710-80CC-67ED07D1A1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5AFDC619-68ED-45AC-8B74-CBDBF6FF54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C7764DE3-739C-447A-B730-66AEBC7D38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2FC3B2-E476-48C7-91D7-0AAD39A8F303}" type="datetimeFigureOut">
              <a:rPr lang="fr-FR" smtClean="0"/>
              <a:t>07/04/2026</a:t>
            </a:fld>
            <a:endParaRPr lang="fr-FR"/>
          </a:p>
        </p:txBody>
      </p:sp>
      <p:sp>
        <p:nvSpPr>
          <p:cNvPr id="5" name="Footer Placeholder 4">
            <a:extLst>
              <a:ext uri="{FF2B5EF4-FFF2-40B4-BE49-F238E27FC236}">
                <a16:creationId xmlns:a16="http://schemas.microsoft.com/office/drawing/2014/main" id="{5675D0DD-847B-496C-A162-61F695F7E7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B27D5572-667A-4458-AE01-F69B0C2A85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7EF88F-B941-417C-A31E-8F7C4E3B7A26}" type="slidenum">
              <a:rPr lang="fr-FR" smtClean="0"/>
              <a:t>‹N°›</a:t>
            </a:fld>
            <a:endParaRPr lang="fr-FR"/>
          </a:p>
        </p:txBody>
      </p:sp>
    </p:spTree>
    <p:extLst>
      <p:ext uri="{BB962C8B-B14F-4D97-AF65-F5344CB8AC3E}">
        <p14:creationId xmlns:p14="http://schemas.microsoft.com/office/powerpoint/2010/main" val="306655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326F7-9707-3EAF-470C-6DD120C9613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23950FB-51D0-E6E0-33C7-AC4C9500E95F}"/>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3">
            <a:extLst>
              <a:ext uri="{FF2B5EF4-FFF2-40B4-BE49-F238E27FC236}">
                <a16:creationId xmlns:a16="http://schemas.microsoft.com/office/drawing/2014/main" id="{B780F55E-60D3-33A1-4C0C-2EB1EAE4B9BC}"/>
              </a:ext>
            </a:extLst>
          </p:cNvPr>
          <p:cNvSpPr txBox="1"/>
          <p:nvPr/>
        </p:nvSpPr>
        <p:spPr>
          <a:xfrm>
            <a:off x="1364974" y="2771826"/>
            <a:ext cx="9462051" cy="768350"/>
          </a:xfrm>
          <a:prstGeom prst="rect">
            <a:avLst/>
          </a:prstGeom>
          <a:noFill/>
        </p:spPr>
        <p:txBody>
          <a:bodyPr wrap="square" rtlCol="0">
            <a:spAutoFit/>
          </a:bodyPr>
          <a:lstStyle/>
          <a:p>
            <a:pPr algn="ctr"/>
            <a:r>
              <a:rPr lang="de-DE" altLang="fr-FR" sz="4400" b="1" dirty="0" err="1">
                <a:solidFill>
                  <a:srgbClr val="20DDA6"/>
                </a:solidFill>
                <a:latin typeface="Calibri" charset="0"/>
              </a:rPr>
              <a:t>Cadrage</a:t>
            </a:r>
            <a:r>
              <a:rPr lang="de-DE" altLang="fr-FR" sz="4400" b="1" dirty="0">
                <a:solidFill>
                  <a:srgbClr val="20DDA6"/>
                </a:solidFill>
                <a:latin typeface="Calibri" charset="0"/>
              </a:rPr>
              <a:t> &amp; </a:t>
            </a:r>
            <a:r>
              <a:rPr lang="de-DE" altLang="fr-FR" sz="4400" b="1" dirty="0" err="1">
                <a:solidFill>
                  <a:srgbClr val="20DDA6"/>
                </a:solidFill>
                <a:latin typeface="Calibri" charset="0"/>
              </a:rPr>
              <a:t>gouvernance</a:t>
            </a:r>
            <a:endParaRPr lang="de-DE" altLang="fr-FR" sz="4400" b="1" dirty="0">
              <a:solidFill>
                <a:srgbClr val="20DDA6"/>
              </a:solidFill>
              <a:latin typeface="Calibri" charset="0"/>
            </a:endParaRPr>
          </a:p>
        </p:txBody>
      </p:sp>
      <p:pic>
        <p:nvPicPr>
          <p:cNvPr id="6" name="Picture 4" descr="[webp-to-png output image]">
            <a:extLst>
              <a:ext uri="{FF2B5EF4-FFF2-40B4-BE49-F238E27FC236}">
                <a16:creationId xmlns:a16="http://schemas.microsoft.com/office/drawing/2014/main" id="{898CA7CE-C31E-D5F2-E314-FCAD3C067A8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126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BE512-DE4F-BCC1-443A-611C0993972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DE24756-7A30-655E-BAF9-A8DBB57DADAE}"/>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Une </a:t>
            </a:r>
            <a:r>
              <a:rPr lang="fr-FR" sz="3200" dirty="0">
                <a:solidFill>
                  <a:srgbClr val="20DDA6"/>
                </a:solidFill>
                <a:latin typeface="Candara Light" panose="020E0502030303020204" pitchFamily="34" charset="0"/>
              </a:rPr>
              <a:t>note de cadrage </a:t>
            </a:r>
            <a:r>
              <a:rPr lang="fr-FR" sz="3200" dirty="0">
                <a:solidFill>
                  <a:schemeClr val="bg1"/>
                </a:solidFill>
                <a:latin typeface="Candara Light" panose="020E0502030303020204" pitchFamily="34" charset="0"/>
              </a:rPr>
              <a:t>est un </a:t>
            </a:r>
            <a:r>
              <a:rPr lang="fr-FR" sz="3200" dirty="0">
                <a:solidFill>
                  <a:srgbClr val="FFC000"/>
                </a:solidFill>
                <a:latin typeface="Candara Light" panose="020E0502030303020204" pitchFamily="34" charset="0"/>
              </a:rPr>
              <a:t>document court qui sert à poser le cadre du projet </a:t>
            </a:r>
            <a:r>
              <a:rPr lang="fr-FR" sz="3200" dirty="0">
                <a:solidFill>
                  <a:schemeClr val="bg1"/>
                </a:solidFill>
                <a:latin typeface="Candara Light" panose="020E0502030303020204" pitchFamily="34" charset="0"/>
              </a:rPr>
              <a:t>avant de le lancer réellement.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Elle précise ce qu’on veut faire, pourquoi on le fait, dans quel périmètre, avec quelles contraintes, quels acteurs, quels objectifs et quels risques principaux.</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B577278E-E555-DB8C-38F2-7EF50343EEE5}"/>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7A10C9BA-3274-C70D-B126-481A5AC31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948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1FA6-48E7-9146-9F79-38B28985A2C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007C72E-1DAB-393C-F123-4FB5B7FF62EB}"/>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u="sng" dirty="0">
                <a:solidFill>
                  <a:srgbClr val="00B0F0"/>
                </a:solidFill>
                <a:latin typeface="Candara Light" panose="020E0502030303020204" pitchFamily="34" charset="0"/>
              </a:rPr>
              <a:t>https://promptotheque-dsfr-bebd50.gitlab-pages.din.</a:t>
            </a:r>
            <a:r>
              <a:rPr lang="fr-FR" sz="3200" u="sng" dirty="0">
                <a:solidFill>
                  <a:schemeClr val="accent5">
                    <a:lumMod val="40000"/>
                    <a:lumOff val="60000"/>
                  </a:schemeClr>
                </a:solidFill>
                <a:latin typeface="Candara Light" panose="020E0502030303020204" pitchFamily="34" charset="0"/>
              </a:rPr>
              <a:t>developpement-durable.gouv.fr</a:t>
            </a:r>
            <a:r>
              <a:rPr lang="fr-FR" sz="3200" u="sng" dirty="0">
                <a:solidFill>
                  <a:srgbClr val="00B0F0"/>
                </a:solidFill>
                <a:latin typeface="Candara Light" panose="020E0502030303020204" pitchFamily="34" charset="0"/>
              </a:rPr>
              <a:t>/note_de_cadrage_projet/</a:t>
            </a:r>
          </a:p>
        </p:txBody>
      </p:sp>
      <p:sp>
        <p:nvSpPr>
          <p:cNvPr id="8" name="Rectangle 7">
            <a:extLst>
              <a:ext uri="{FF2B5EF4-FFF2-40B4-BE49-F238E27FC236}">
                <a16:creationId xmlns:a16="http://schemas.microsoft.com/office/drawing/2014/main" id="{8959BD80-EEE1-4FDA-4C95-31533C39E1F8}"/>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924B4CCC-76D7-F91B-DA58-634A1109B7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378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CF7EA-208C-DE17-05C0-442109308CF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3B04DCF-96C2-C72B-FEBD-36D9818AB749}"/>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0A460303-0B40-5992-4E28-29AFC66C86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9211345D-1AE2-4F2A-F2C7-633E08ECA501}"/>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E1D14796-54E6-1D46-7CFB-43A287E5C80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D09F79CC-A3E0-660D-2A34-CA7BB150FF0A}"/>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analysez la note de cadrage du gouvernement</a:t>
            </a:r>
          </a:p>
        </p:txBody>
      </p:sp>
    </p:spTree>
    <p:extLst>
      <p:ext uri="{BB962C8B-B14F-4D97-AF65-F5344CB8AC3E}">
        <p14:creationId xmlns:p14="http://schemas.microsoft.com/office/powerpoint/2010/main" val="98345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F7346-299E-9CDF-BFA2-BBB18C5C063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EFC3EB90-A634-0694-6532-152DCEF7A07C}"/>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E52E86F3-48FB-2132-EE6F-654BAA10A7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1249B492-FDFA-6B55-D4C9-C5E08DB5E1D5}"/>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79584B26-6709-098E-559B-52BEE2E5FBA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82EE20A4-1019-F5BE-41B5-9B038014A8E1}"/>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produire une note de cadrage pour le sujet fourni</a:t>
            </a:r>
          </a:p>
        </p:txBody>
      </p:sp>
    </p:spTree>
    <p:extLst>
      <p:ext uri="{BB962C8B-B14F-4D97-AF65-F5344CB8AC3E}">
        <p14:creationId xmlns:p14="http://schemas.microsoft.com/office/powerpoint/2010/main" val="3778785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DAD34-9540-1257-624C-693086363B1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A3B196C1-CCBC-2551-201B-F1960B74A7D2}"/>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9DB774FE-3930-6F45-9CC1-907004DBB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D8F0C647-1D5C-EB16-98BD-0DE345933E2C}"/>
              </a:ext>
            </a:extLst>
          </p:cNvPr>
          <p:cNvPicPr>
            <a:picLocks noChangeAspect="1"/>
          </p:cNvPicPr>
          <p:nvPr/>
        </p:nvPicPr>
        <p:blipFill>
          <a:blip r:embed="rId3"/>
          <a:stretch>
            <a:fillRect/>
          </a:stretch>
        </p:blipFill>
        <p:spPr>
          <a:xfrm>
            <a:off x="2914206" y="1599944"/>
            <a:ext cx="6363588" cy="3658111"/>
          </a:xfrm>
          <a:prstGeom prst="rect">
            <a:avLst/>
          </a:prstGeom>
        </p:spPr>
      </p:pic>
    </p:spTree>
    <p:extLst>
      <p:ext uri="{BB962C8B-B14F-4D97-AF65-F5344CB8AC3E}">
        <p14:creationId xmlns:p14="http://schemas.microsoft.com/office/powerpoint/2010/main" val="1058830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37611-3961-5ACA-5313-5F22DF82173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C7F7145-B9EF-2961-41AF-7D759FBB1F26}"/>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AED4A8D7-AA39-B592-0150-CB9E11AA10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Matrice RACI : comment définir rôles et responsabilités ? [GUIDE]">
            <a:extLst>
              <a:ext uri="{FF2B5EF4-FFF2-40B4-BE49-F238E27FC236}">
                <a16:creationId xmlns:a16="http://schemas.microsoft.com/office/drawing/2014/main" id="{D065A2F6-30DF-3FB5-0D7A-3D545E2997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4817" y="1294464"/>
            <a:ext cx="7533655" cy="4269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92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FF4EB-1989-FFC5-1C22-DD3C95D3C7A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3015F4A-8CDA-9910-BFCA-B0848844E7F9}"/>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La </a:t>
            </a:r>
            <a:r>
              <a:rPr lang="fr-FR" sz="3200" dirty="0">
                <a:solidFill>
                  <a:srgbClr val="20DDA6"/>
                </a:solidFill>
                <a:latin typeface="Candara Light" panose="020E0502030303020204" pitchFamily="34" charset="0"/>
              </a:rPr>
              <a:t>matrice RACI </a:t>
            </a:r>
            <a:r>
              <a:rPr lang="fr-FR" sz="3200" dirty="0">
                <a:solidFill>
                  <a:schemeClr val="bg1"/>
                </a:solidFill>
                <a:latin typeface="Candara Light" panose="020E0502030303020204" pitchFamily="34" charset="0"/>
              </a:rPr>
              <a:t>sert à </a:t>
            </a:r>
            <a:r>
              <a:rPr lang="fr-FR" sz="3200" dirty="0">
                <a:solidFill>
                  <a:srgbClr val="FF33CC"/>
                </a:solidFill>
                <a:latin typeface="Candara Light" panose="020E0502030303020204" pitchFamily="34" charset="0"/>
              </a:rPr>
              <a:t>clarifier les rôles </a:t>
            </a:r>
            <a:r>
              <a:rPr lang="fr-FR" sz="3200" dirty="0">
                <a:solidFill>
                  <a:schemeClr val="bg1"/>
                </a:solidFill>
                <a:latin typeface="Candara Light" panose="020E0502030303020204" pitchFamily="34" charset="0"/>
              </a:rPr>
              <a:t>dans un projet.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Elle distingue la personne qui </a:t>
            </a:r>
            <a:r>
              <a:rPr lang="fr-FR" sz="3200" dirty="0">
                <a:solidFill>
                  <a:srgbClr val="FFC000"/>
                </a:solidFill>
                <a:latin typeface="Candara Light" panose="020E0502030303020204" pitchFamily="34" charset="0"/>
              </a:rPr>
              <a:t>réalise</a:t>
            </a:r>
            <a:r>
              <a:rPr lang="fr-FR" sz="3200" dirty="0">
                <a:solidFill>
                  <a:schemeClr val="bg1"/>
                </a:solidFill>
                <a:latin typeface="Candara Light" panose="020E0502030303020204" pitchFamily="34" charset="0"/>
              </a:rPr>
              <a:t> l’action, celle qui porte la </a:t>
            </a:r>
            <a:r>
              <a:rPr lang="fr-FR" sz="3200" dirty="0">
                <a:solidFill>
                  <a:srgbClr val="FFC000"/>
                </a:solidFill>
                <a:latin typeface="Candara Light" panose="020E0502030303020204" pitchFamily="34" charset="0"/>
              </a:rPr>
              <a:t>responsabilité finale</a:t>
            </a:r>
            <a:r>
              <a:rPr lang="fr-FR" sz="3200" dirty="0">
                <a:solidFill>
                  <a:schemeClr val="bg1"/>
                </a:solidFill>
                <a:latin typeface="Candara Light" panose="020E0502030303020204" pitchFamily="34" charset="0"/>
              </a:rPr>
              <a:t>, celles qu’il faut </a:t>
            </a:r>
            <a:r>
              <a:rPr lang="fr-FR" sz="3200" dirty="0">
                <a:solidFill>
                  <a:srgbClr val="FFC000"/>
                </a:solidFill>
                <a:latin typeface="Candara Light" panose="020E0502030303020204" pitchFamily="34" charset="0"/>
              </a:rPr>
              <a:t>consulter</a:t>
            </a:r>
            <a:r>
              <a:rPr lang="fr-FR" sz="3200" dirty="0">
                <a:solidFill>
                  <a:schemeClr val="bg1"/>
                </a:solidFill>
                <a:latin typeface="Candara Light" panose="020E0502030303020204" pitchFamily="34" charset="0"/>
              </a:rPr>
              <a:t> et celles qu’il faut simplement </a:t>
            </a:r>
            <a:r>
              <a:rPr lang="fr-FR" sz="3200" dirty="0">
                <a:solidFill>
                  <a:srgbClr val="FFC000"/>
                </a:solidFill>
                <a:latin typeface="Candara Light" panose="020E0502030303020204" pitchFamily="34" charset="0"/>
              </a:rPr>
              <a:t>informer</a:t>
            </a:r>
            <a:r>
              <a:rPr lang="fr-FR" sz="3200" dirty="0">
                <a:solidFill>
                  <a:schemeClr val="bg1"/>
                </a:solidFill>
                <a:latin typeface="Candara Light" panose="020E0502030303020204" pitchFamily="34" charset="0"/>
              </a:rPr>
              <a:t>. </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A246C7E0-0DC8-B2E3-938A-7830712AED25}"/>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5282101F-8151-D7B7-0CF9-B8C2B5ADB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457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3FE50-41A9-637E-2A85-D50D196F6AB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5E8FF63-A82F-0A07-689F-D7F0916479D1}"/>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La </a:t>
            </a:r>
            <a:r>
              <a:rPr lang="fr-FR" sz="3200" dirty="0">
                <a:solidFill>
                  <a:srgbClr val="20DDA6"/>
                </a:solidFill>
                <a:latin typeface="Candara Light" panose="020E0502030303020204" pitchFamily="34" charset="0"/>
              </a:rPr>
              <a:t>gouvernance projet</a:t>
            </a:r>
            <a:r>
              <a:rPr lang="fr-FR" sz="3200" dirty="0">
                <a:solidFill>
                  <a:schemeClr val="bg1"/>
                </a:solidFill>
                <a:latin typeface="Candara Light" panose="020E0502030303020204" pitchFamily="34" charset="0"/>
              </a:rPr>
              <a:t>, c’est le cadre qui définit comment le projet est piloté, </a:t>
            </a:r>
            <a:r>
              <a:rPr lang="fr-FR" sz="3200" dirty="0">
                <a:solidFill>
                  <a:srgbClr val="FF33CC"/>
                </a:solidFill>
                <a:latin typeface="Candara Light" panose="020E0502030303020204" pitchFamily="34" charset="0"/>
              </a:rPr>
              <a:t>qui décide, à quel moment, sur quoi, et selon quelles règles</a:t>
            </a:r>
            <a:r>
              <a:rPr lang="fr-FR" sz="3200" dirty="0">
                <a:solidFill>
                  <a:schemeClr val="bg1"/>
                </a:solidFill>
                <a:latin typeface="Candara Light" panose="020E0502030303020204" pitchFamily="34" charset="0"/>
              </a:rPr>
              <a:t>.</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Dit autrement, ce n’est pas le travail opérationnel quotidien. Ce n’est pas « qui fait la tâche ». C’est </a:t>
            </a:r>
            <a:r>
              <a:rPr lang="fr-FR" sz="3200" dirty="0">
                <a:solidFill>
                  <a:srgbClr val="FFC000"/>
                </a:solidFill>
                <a:latin typeface="Candara Light" panose="020E0502030303020204" pitchFamily="34" charset="0"/>
              </a:rPr>
              <a:t>qui oriente, qui arbitre, qui valide et comment l’information remonte</a:t>
            </a:r>
            <a:r>
              <a:rPr lang="fr-FR" sz="3200" dirty="0">
                <a:solidFill>
                  <a:schemeClr val="bg1"/>
                </a:solidFill>
                <a:latin typeface="Candara Light" panose="020E0502030303020204" pitchFamily="34" charset="0"/>
              </a:rPr>
              <a:t>.</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7ED9663D-18CD-092B-A1AB-2EF494290FDA}"/>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21B47436-298D-A5E3-8FBD-6EDB3E25D3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186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955E5-AB41-BFF3-9F6F-1F6AAD8871A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F97AC1B-B648-9495-B439-C59B3EEA0D33}"/>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FFC000"/>
                </a:solidFill>
                <a:latin typeface="Candara Light" panose="020E0502030303020204" pitchFamily="34" charset="0"/>
              </a:rPr>
              <a:t>chef de projet </a:t>
            </a:r>
            <a:r>
              <a:rPr lang="fr-FR" sz="3200" dirty="0">
                <a:solidFill>
                  <a:srgbClr val="FF33CC"/>
                </a:solidFill>
                <a:latin typeface="Candara Light" panose="020E0502030303020204" pitchFamily="34" charset="0"/>
              </a:rPr>
              <a:t>suit</a:t>
            </a:r>
            <a:r>
              <a:rPr lang="fr-FR" sz="3200" dirty="0">
                <a:solidFill>
                  <a:schemeClr val="bg1"/>
                </a:solidFill>
                <a:latin typeface="Candara Light" panose="020E0502030303020204" pitchFamily="34" charset="0"/>
              </a:rPr>
              <a:t> l’avancement et coordonne les travaux. </a:t>
            </a:r>
          </a:p>
          <a:p>
            <a:r>
              <a:rPr lang="fr-FR" sz="3200" dirty="0">
                <a:solidFill>
                  <a:schemeClr val="bg1"/>
                </a:solidFill>
                <a:latin typeface="Candara Light" panose="020E0502030303020204" pitchFamily="34" charset="0"/>
              </a:rPr>
              <a:t>Le </a:t>
            </a:r>
            <a:r>
              <a:rPr lang="fr-FR" sz="3200" dirty="0">
                <a:solidFill>
                  <a:srgbClr val="FFC000"/>
                </a:solidFill>
                <a:latin typeface="Candara Light" panose="020E0502030303020204" pitchFamily="34" charset="0"/>
              </a:rPr>
              <a:t>sponsor</a:t>
            </a:r>
            <a:r>
              <a:rPr lang="fr-FR" sz="3200" dirty="0">
                <a:solidFill>
                  <a:schemeClr val="bg1"/>
                </a:solidFill>
                <a:latin typeface="Candara Light" panose="020E0502030303020204" pitchFamily="34" charset="0"/>
              </a:rPr>
              <a:t> </a:t>
            </a:r>
            <a:r>
              <a:rPr lang="fr-FR" sz="3200" dirty="0">
                <a:solidFill>
                  <a:srgbClr val="FF33CC"/>
                </a:solidFill>
                <a:latin typeface="Candara Light" panose="020E0502030303020204" pitchFamily="34" charset="0"/>
              </a:rPr>
              <a:t>arbitre</a:t>
            </a:r>
            <a:r>
              <a:rPr lang="fr-FR" sz="3200" dirty="0">
                <a:solidFill>
                  <a:schemeClr val="bg1"/>
                </a:solidFill>
                <a:latin typeface="Candara Light" panose="020E0502030303020204" pitchFamily="34" charset="0"/>
              </a:rPr>
              <a:t> les décisions importantes de budget, de délai ou de périmètre. </a:t>
            </a:r>
          </a:p>
          <a:p>
            <a:r>
              <a:rPr lang="fr-FR" sz="3200" dirty="0">
                <a:solidFill>
                  <a:schemeClr val="bg1"/>
                </a:solidFill>
                <a:latin typeface="Candara Light" panose="020E0502030303020204" pitchFamily="34" charset="0"/>
              </a:rPr>
              <a:t>Le </a:t>
            </a:r>
            <a:r>
              <a:rPr lang="fr-FR" sz="3200" dirty="0">
                <a:solidFill>
                  <a:srgbClr val="FFC000"/>
                </a:solidFill>
                <a:latin typeface="Candara Light" panose="020E0502030303020204" pitchFamily="34" charset="0"/>
              </a:rPr>
              <a:t>comité de pilotage </a:t>
            </a:r>
            <a:r>
              <a:rPr lang="fr-FR" sz="3200" dirty="0">
                <a:solidFill>
                  <a:srgbClr val="FF33CC"/>
                </a:solidFill>
                <a:latin typeface="Candara Light" panose="020E0502030303020204" pitchFamily="34" charset="0"/>
              </a:rPr>
              <a:t>examine</a:t>
            </a:r>
            <a:r>
              <a:rPr lang="fr-FR" sz="3200" dirty="0">
                <a:solidFill>
                  <a:schemeClr val="bg1"/>
                </a:solidFill>
                <a:latin typeface="Candara Light" panose="020E0502030303020204" pitchFamily="34" charset="0"/>
              </a:rPr>
              <a:t> les écarts, décide des priorités et valide les orientations majeures. </a:t>
            </a:r>
          </a:p>
          <a:p>
            <a:r>
              <a:rPr lang="fr-FR" sz="3200" dirty="0">
                <a:solidFill>
                  <a:schemeClr val="bg1"/>
                </a:solidFill>
                <a:latin typeface="Candara Light" panose="020E0502030303020204" pitchFamily="34" charset="0"/>
              </a:rPr>
              <a:t>Le </a:t>
            </a:r>
            <a:r>
              <a:rPr lang="fr-FR" sz="3200" dirty="0">
                <a:solidFill>
                  <a:srgbClr val="FFC000"/>
                </a:solidFill>
                <a:latin typeface="Candara Light" panose="020E0502030303020204" pitchFamily="34" charset="0"/>
              </a:rPr>
              <a:t>comité projet </a:t>
            </a:r>
            <a:r>
              <a:rPr lang="fr-FR" sz="3200" dirty="0">
                <a:solidFill>
                  <a:srgbClr val="FF33CC"/>
                </a:solidFill>
                <a:latin typeface="Candara Light" panose="020E0502030303020204" pitchFamily="34" charset="0"/>
              </a:rPr>
              <a:t>suit</a:t>
            </a:r>
            <a:r>
              <a:rPr lang="fr-FR" sz="3200" dirty="0">
                <a:solidFill>
                  <a:schemeClr val="bg1"/>
                </a:solidFill>
                <a:latin typeface="Candara Light" panose="020E0502030303020204" pitchFamily="34" charset="0"/>
              </a:rPr>
              <a:t> l’exécution plus régulièrement. Ça, c’est de la gouvernance.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DECCE0EE-5001-6102-22EE-32B860707D91}"/>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444B3602-269D-61F3-D13A-07E2A0316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739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2AFFB-B6D0-5185-D0E1-D446144ACC2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2F381B5-C06D-E1CF-0CD1-2D3AE12505D1}"/>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9880845F-58B6-C504-8D0C-7939FCC99C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0A9857E4-04FB-92A2-E442-36BCF2821E7C}"/>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FB4C72DE-0DF7-DB39-3E14-9A66BAFDCA39}"/>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3166032B-ACB2-4BCC-A052-F54644840088}"/>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réalisez la matrice RACI et la gouvernance pour le sujet fourni</a:t>
            </a:r>
          </a:p>
        </p:txBody>
      </p:sp>
    </p:spTree>
    <p:extLst>
      <p:ext uri="{BB962C8B-B14F-4D97-AF65-F5344CB8AC3E}">
        <p14:creationId xmlns:p14="http://schemas.microsoft.com/office/powerpoint/2010/main" val="234926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6F522-8F3C-C685-2435-27422C15E4B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131D0AF-AC81-0369-58AC-09572E3CCDF9}"/>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3">
            <a:extLst>
              <a:ext uri="{FF2B5EF4-FFF2-40B4-BE49-F238E27FC236}">
                <a16:creationId xmlns:a16="http://schemas.microsoft.com/office/drawing/2014/main" id="{263CEB08-7AC8-84E5-782A-AEE206B0C67A}"/>
              </a:ext>
            </a:extLst>
          </p:cNvPr>
          <p:cNvSpPr txBox="1"/>
          <p:nvPr/>
        </p:nvSpPr>
        <p:spPr>
          <a:xfrm>
            <a:off x="1364974" y="2771826"/>
            <a:ext cx="9462051" cy="768350"/>
          </a:xfrm>
          <a:prstGeom prst="rect">
            <a:avLst/>
          </a:prstGeom>
          <a:noFill/>
        </p:spPr>
        <p:txBody>
          <a:bodyPr wrap="square" rtlCol="0">
            <a:spAutoFit/>
          </a:bodyPr>
          <a:lstStyle/>
          <a:p>
            <a:pPr algn="ctr"/>
            <a:r>
              <a:rPr lang="de-DE" altLang="fr-FR" sz="4400" b="1">
                <a:solidFill>
                  <a:srgbClr val="20DDA6"/>
                </a:solidFill>
                <a:latin typeface="Calibri" charset="0"/>
              </a:rPr>
              <a:t>Planification &amp; budget</a:t>
            </a:r>
            <a:endParaRPr lang="de-DE" altLang="fr-FR" sz="4400" b="1" dirty="0">
              <a:solidFill>
                <a:srgbClr val="20DDA6"/>
              </a:solidFill>
              <a:latin typeface="Calibri" charset="0"/>
            </a:endParaRPr>
          </a:p>
        </p:txBody>
      </p:sp>
      <p:pic>
        <p:nvPicPr>
          <p:cNvPr id="6" name="Picture 4" descr="[webp-to-png output image]">
            <a:extLst>
              <a:ext uri="{FF2B5EF4-FFF2-40B4-BE49-F238E27FC236}">
                <a16:creationId xmlns:a16="http://schemas.microsoft.com/office/drawing/2014/main" id="{204239E2-4498-54E9-E120-1322C984CB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921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1D129-7377-3925-717C-7BE63AAC3A8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A9E6E7A-05D4-50A0-78ED-53F808CCCAA5}"/>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2EDED80C-ED4D-F1A0-69D8-FD2937D25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Exemples de Work Breakdown Structure Examples (WBS projet)">
            <a:extLst>
              <a:ext uri="{FF2B5EF4-FFF2-40B4-BE49-F238E27FC236}">
                <a16:creationId xmlns:a16="http://schemas.microsoft.com/office/drawing/2014/main" id="{555F2401-07D1-8280-4349-D93F55FAC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3099" y="1007104"/>
            <a:ext cx="7608163" cy="5015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93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52FB5-DDF2-D85B-522E-BE28ECAECCC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9F6C870-3859-4A99-1326-868CE2A65C01}"/>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WBS (Work Breakdown Structure) </a:t>
            </a:r>
            <a:r>
              <a:rPr lang="fr-FR" sz="3200" dirty="0">
                <a:solidFill>
                  <a:schemeClr val="bg1"/>
                </a:solidFill>
                <a:latin typeface="Candara Light" panose="020E0502030303020204" pitchFamily="34" charset="0"/>
              </a:rPr>
              <a:t>est un outil de découpage du projet en tâches ou lots de travaux.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Il permet de structurer un projet complexe en éléments plus simples à planifier, estimer et suivre.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C’est une base de travail essentielle pour organiser les livrables, les responsabilités et le planning.</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73D40DF2-B886-AB7F-228F-B60571D2779D}"/>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96A9BAC0-4A97-6CFC-7DD7-B6D35CE4BE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927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0C52-9163-CC68-8171-6CD04A496ED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9C15182-8E75-4D0B-7BAA-1571D5B997B7}"/>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rétroplanning</a:t>
            </a:r>
            <a:r>
              <a:rPr lang="fr-FR" sz="3200" dirty="0">
                <a:solidFill>
                  <a:schemeClr val="bg1"/>
                </a:solidFill>
                <a:latin typeface="Candara Light" panose="020E0502030303020204" pitchFamily="34" charset="0"/>
              </a:rPr>
              <a:t> consiste à organiser les étapes d’un projet en </a:t>
            </a:r>
            <a:r>
              <a:rPr lang="fr-FR" sz="3200" dirty="0">
                <a:solidFill>
                  <a:srgbClr val="FFC000"/>
                </a:solidFill>
                <a:latin typeface="Candara Light" panose="020E0502030303020204" pitchFamily="34" charset="0"/>
              </a:rPr>
              <a:t>partant de la date de fin </a:t>
            </a:r>
            <a:r>
              <a:rPr lang="fr-FR" sz="3200" dirty="0">
                <a:solidFill>
                  <a:schemeClr val="bg1"/>
                </a:solidFill>
                <a:latin typeface="Candara Light" panose="020E0502030303020204" pitchFamily="34" charset="0"/>
              </a:rPr>
              <a:t>pour remonter vers les actions à réaliser. Il permet de sécuriser le respect d’une échéance imposée.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4CD1A457-6FA1-BA34-13A5-DB1C1A8B5C36}"/>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2EACC15F-5391-5842-9A7C-9DBA5F87A1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3043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71C8A-E736-7719-C639-AA33B5CE0CB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6A3876E-ECFA-5920-A668-F4FBBDED25F4}"/>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diagramme de Gantt </a:t>
            </a:r>
            <a:r>
              <a:rPr lang="fr-FR" sz="3200" dirty="0">
                <a:solidFill>
                  <a:schemeClr val="bg1"/>
                </a:solidFill>
                <a:latin typeface="Candara Light" panose="020E0502030303020204" pitchFamily="34" charset="0"/>
              </a:rPr>
              <a:t>est un </a:t>
            </a:r>
            <a:r>
              <a:rPr lang="fr-FR" sz="3200" dirty="0">
                <a:solidFill>
                  <a:srgbClr val="FFC000"/>
                </a:solidFill>
                <a:latin typeface="Candara Light" panose="020E0502030303020204" pitchFamily="34" charset="0"/>
              </a:rPr>
              <a:t>outil visuel </a:t>
            </a:r>
            <a:r>
              <a:rPr lang="fr-FR" sz="3200" dirty="0">
                <a:solidFill>
                  <a:schemeClr val="bg1"/>
                </a:solidFill>
                <a:latin typeface="Candara Light" panose="020E0502030303020204" pitchFamily="34" charset="0"/>
              </a:rPr>
              <a:t>de planification qui représente les tâches du projet sur une échelle de temps. Il permet de suivre les durées, les enchaînements, les jalons et l’avancement global.</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C3509303-1736-1806-E3B6-0B9EB869C35A}"/>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8157FCB4-184B-B431-ACE4-053A4B171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642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7E033-35B4-8940-C9CA-73AC4CB19F4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B652232E-4151-4DAC-DAD2-346F437D56E3}"/>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AA72A811-07C1-EA7B-1C1D-FB498C6FC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creenshot of Gantt chart timeline">
            <a:extLst>
              <a:ext uri="{FF2B5EF4-FFF2-40B4-BE49-F238E27FC236}">
                <a16:creationId xmlns:a16="http://schemas.microsoft.com/office/drawing/2014/main" id="{1431C080-7F4A-C51C-B716-C82E87F1B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6685" y="981042"/>
            <a:ext cx="7718347" cy="4895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743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2B411-6CB1-88A1-D91E-B98EE4C3E97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54F81A5-C1EB-9800-AC87-F84F9302462A}"/>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chemin critique </a:t>
            </a:r>
            <a:r>
              <a:rPr lang="fr-FR" sz="3200" dirty="0">
                <a:solidFill>
                  <a:schemeClr val="bg1"/>
                </a:solidFill>
                <a:latin typeface="Candara Light" panose="020E0502030303020204" pitchFamily="34" charset="0"/>
              </a:rPr>
              <a:t>est </a:t>
            </a:r>
            <a:r>
              <a:rPr lang="fr-FR" sz="3200" dirty="0">
                <a:solidFill>
                  <a:srgbClr val="FFC000"/>
                </a:solidFill>
                <a:latin typeface="Candara Light" panose="020E0502030303020204" pitchFamily="34" charset="0"/>
              </a:rPr>
              <a:t>l’enchaînement des tâches qui fixe la durée minimale </a:t>
            </a:r>
            <a:r>
              <a:rPr lang="fr-FR" sz="3200" dirty="0">
                <a:solidFill>
                  <a:schemeClr val="bg1"/>
                </a:solidFill>
                <a:latin typeface="Candara Light" panose="020E0502030303020204" pitchFamily="34" charset="0"/>
              </a:rPr>
              <a:t>du projet. Ces tâches n’ont pas de marge : tout retard sur l’une d’elles entraîne un retard sur la date de fin du projet.</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410F1C37-D519-17BE-F003-352403DBB05B}"/>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A4836A4A-D1C6-C0A8-7BA9-6B3E7F8D8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223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E18CC-BD5F-B612-236E-3545E58E333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1E67295-A297-AFFC-1184-4FEF8C3667ED}"/>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registre des risques </a:t>
            </a:r>
            <a:r>
              <a:rPr lang="fr-FR" sz="3200" dirty="0">
                <a:solidFill>
                  <a:schemeClr val="bg1"/>
                </a:solidFill>
                <a:latin typeface="Candara Light" panose="020E0502030303020204" pitchFamily="34" charset="0"/>
              </a:rPr>
              <a:t>est </a:t>
            </a:r>
            <a:r>
              <a:rPr lang="fr-FR" sz="3200" dirty="0">
                <a:solidFill>
                  <a:srgbClr val="FFC000"/>
                </a:solidFill>
                <a:latin typeface="Candara Light" panose="020E0502030303020204" pitchFamily="34" charset="0"/>
              </a:rPr>
              <a:t>un document qui recense les risques identifiés sur le projet</a:t>
            </a:r>
            <a:r>
              <a:rPr lang="fr-FR" sz="3200" dirty="0">
                <a:solidFill>
                  <a:schemeClr val="bg1"/>
                </a:solidFill>
                <a:latin typeface="Candara Light" panose="020E0502030303020204" pitchFamily="34" charset="0"/>
              </a:rPr>
              <a:t>, leur probabilité, leur impact et les actions prévues pour les prévenir ou les traiter. Il permet d’anticiper les dérives et de piloter les points de vigilance de manière structurée.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6531453F-5256-F15D-C24F-09C5E13BC440}"/>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F3DC981A-1029-64A0-444D-8A8475B653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6977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DEC3F-BACF-1C0F-FB82-590D6EF2902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049F667-FA10-CEC5-2B21-C51025ED7AFC}"/>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plan qualité </a:t>
            </a:r>
            <a:r>
              <a:rPr lang="fr-FR" sz="3200" dirty="0">
                <a:solidFill>
                  <a:schemeClr val="bg1"/>
                </a:solidFill>
                <a:latin typeface="Candara Light" panose="020E0502030303020204" pitchFamily="34" charset="0"/>
              </a:rPr>
              <a:t>est </a:t>
            </a:r>
            <a:r>
              <a:rPr lang="fr-FR" sz="3200" dirty="0">
                <a:solidFill>
                  <a:srgbClr val="FFC000"/>
                </a:solidFill>
                <a:latin typeface="Candara Light" panose="020E0502030303020204" pitchFamily="34" charset="0"/>
              </a:rPr>
              <a:t>le document qui définit les règles, critères, contrôles et validations </a:t>
            </a:r>
            <a:r>
              <a:rPr lang="fr-FR" sz="3200" dirty="0">
                <a:solidFill>
                  <a:schemeClr val="bg1"/>
                </a:solidFill>
                <a:latin typeface="Candara Light" panose="020E0502030303020204" pitchFamily="34" charset="0"/>
              </a:rPr>
              <a:t>mis en place pour garantir la qualité du projet et de ses livrables.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Il permet de sécuriser la conformité, de réduire les défauts et d’assurer un niveau d’exigence partagé par l’équipe.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27ECB936-D9B2-D5C9-01C7-A078B45E0A3A}"/>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CB97599F-6691-880F-1387-B08D5F7C9C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303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0BA0A-FE20-C2FD-9511-C5CC3C7CC2C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E7D2447-D2F9-20AE-EBD0-77778CE4A170}"/>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4FE5BD13-E99A-8F5D-CAAF-C07A2343DCF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0D4E4E96-C303-3C18-AC54-7D3E06A1C374}"/>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8B7F734F-04B7-06C6-B9A9-E29C37F90A90}"/>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ABD5EBF8-ECB3-2E04-DCDE-69A638F3D079}"/>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réalisez l’étape 5.2 du sujet fourni</a:t>
            </a:r>
          </a:p>
        </p:txBody>
      </p:sp>
    </p:spTree>
    <p:extLst>
      <p:ext uri="{BB962C8B-B14F-4D97-AF65-F5344CB8AC3E}">
        <p14:creationId xmlns:p14="http://schemas.microsoft.com/office/powerpoint/2010/main" val="3741284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0C33F-4FBD-B67C-A241-1D24C49448C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EBF50E5-6CAC-865D-ACE6-835F564DCEE0}"/>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3">
            <a:extLst>
              <a:ext uri="{FF2B5EF4-FFF2-40B4-BE49-F238E27FC236}">
                <a16:creationId xmlns:a16="http://schemas.microsoft.com/office/drawing/2014/main" id="{5D3E5BAD-C5BD-E1A7-9ECE-B3F547E77DC0}"/>
              </a:ext>
            </a:extLst>
          </p:cNvPr>
          <p:cNvSpPr txBox="1"/>
          <p:nvPr/>
        </p:nvSpPr>
        <p:spPr>
          <a:xfrm>
            <a:off x="1364974" y="2771826"/>
            <a:ext cx="9462051" cy="768350"/>
          </a:xfrm>
          <a:prstGeom prst="rect">
            <a:avLst/>
          </a:prstGeom>
          <a:noFill/>
        </p:spPr>
        <p:txBody>
          <a:bodyPr wrap="square" rtlCol="0">
            <a:spAutoFit/>
          </a:bodyPr>
          <a:lstStyle/>
          <a:p>
            <a:pPr algn="ctr"/>
            <a:r>
              <a:rPr lang="de-DE" altLang="fr-FR" sz="4400" b="1">
                <a:solidFill>
                  <a:srgbClr val="20DDA6"/>
                </a:solidFill>
                <a:latin typeface="Calibri" charset="0"/>
              </a:rPr>
              <a:t>Méthodes &amp; coordination</a:t>
            </a:r>
            <a:endParaRPr lang="de-DE" altLang="fr-FR" sz="4400" b="1" dirty="0">
              <a:solidFill>
                <a:srgbClr val="20DDA6"/>
              </a:solidFill>
              <a:latin typeface="Calibri" charset="0"/>
            </a:endParaRPr>
          </a:p>
        </p:txBody>
      </p:sp>
      <p:pic>
        <p:nvPicPr>
          <p:cNvPr id="6" name="Picture 4" descr="[webp-to-png output image]">
            <a:extLst>
              <a:ext uri="{FF2B5EF4-FFF2-40B4-BE49-F238E27FC236}">
                <a16:creationId xmlns:a16="http://schemas.microsoft.com/office/drawing/2014/main" id="{1F16F6CF-A2AA-E34C-0724-98CF7FF832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586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920-1B8D-86CF-C80F-43A93B0A79E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FDA60AA-CF31-F45A-1E0F-6C48B7C7DA14}"/>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20EABDEB-2209-A56D-2260-8D126541AA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28E3F514-A954-5000-8209-F82D53599DF0}"/>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9797BF90-FFC0-98F4-717E-8E42EE8B7DD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CA829553-6707-84F6-E1BF-21422F142782}"/>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Vous souvenez-vous des méthodes agiles ?</a:t>
            </a:r>
          </a:p>
        </p:txBody>
      </p:sp>
    </p:spTree>
    <p:extLst>
      <p:ext uri="{BB962C8B-B14F-4D97-AF65-F5344CB8AC3E}">
        <p14:creationId xmlns:p14="http://schemas.microsoft.com/office/powerpoint/2010/main" val="3932479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6A96-F4EC-AE56-ED78-21202037A7B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989E7B9-863A-A20C-6CB5-F3BF65018D33}"/>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La </a:t>
            </a:r>
            <a:r>
              <a:rPr lang="fr-FR" sz="3200" dirty="0" err="1">
                <a:solidFill>
                  <a:srgbClr val="20DDA6"/>
                </a:solidFill>
                <a:latin typeface="Candara Light" panose="020E0502030303020204" pitchFamily="34" charset="0"/>
              </a:rPr>
              <a:t>Definition</a:t>
            </a:r>
            <a:r>
              <a:rPr lang="fr-FR" sz="3200" dirty="0">
                <a:solidFill>
                  <a:srgbClr val="20DDA6"/>
                </a:solidFill>
                <a:latin typeface="Candara Light" panose="020E0502030303020204" pitchFamily="34" charset="0"/>
              </a:rPr>
              <a:t> of </a:t>
            </a:r>
            <a:r>
              <a:rPr lang="fr-FR" sz="3200" dirty="0" err="1">
                <a:solidFill>
                  <a:srgbClr val="20DDA6"/>
                </a:solidFill>
                <a:latin typeface="Candara Light" panose="020E0502030303020204" pitchFamily="34" charset="0"/>
              </a:rPr>
              <a:t>Ready</a:t>
            </a:r>
            <a:r>
              <a:rPr lang="fr-FR" sz="3200" dirty="0">
                <a:solidFill>
                  <a:srgbClr val="20DDA6"/>
                </a:solidFill>
                <a:latin typeface="Candara Light" panose="020E0502030303020204" pitchFamily="34" charset="0"/>
              </a:rPr>
              <a:t> </a:t>
            </a:r>
            <a:r>
              <a:rPr lang="fr-FR" sz="3200" dirty="0">
                <a:solidFill>
                  <a:schemeClr val="bg1"/>
                </a:solidFill>
                <a:latin typeface="Candara Light" panose="020E0502030303020204" pitchFamily="34" charset="0"/>
              </a:rPr>
              <a:t>regroupe les critères qu’un élément du </a:t>
            </a:r>
            <a:r>
              <a:rPr lang="fr-FR" sz="3200" dirty="0" err="1">
                <a:solidFill>
                  <a:schemeClr val="bg1"/>
                </a:solidFill>
                <a:latin typeface="Candara Light" panose="020E0502030303020204" pitchFamily="34" charset="0"/>
              </a:rPr>
              <a:t>backlog</a:t>
            </a:r>
            <a:r>
              <a:rPr lang="fr-FR" sz="3200" dirty="0">
                <a:solidFill>
                  <a:schemeClr val="bg1"/>
                </a:solidFill>
                <a:latin typeface="Candara Light" panose="020E0502030303020204" pitchFamily="34" charset="0"/>
              </a:rPr>
              <a:t> doit respecter avant </a:t>
            </a:r>
            <a:r>
              <a:rPr lang="fr-FR" sz="3200" dirty="0">
                <a:solidFill>
                  <a:srgbClr val="FFC000"/>
                </a:solidFill>
                <a:latin typeface="Candara Light" panose="020E0502030303020204" pitchFamily="34" charset="0"/>
              </a:rPr>
              <a:t>d’être pris en développement</a:t>
            </a:r>
            <a:r>
              <a:rPr lang="fr-FR" sz="3200" dirty="0">
                <a:solidFill>
                  <a:schemeClr val="bg1"/>
                </a:solidFill>
                <a:latin typeface="Candara Light" panose="020E0502030303020204" pitchFamily="34" charset="0"/>
              </a:rPr>
              <a:t>.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Elle sert à vérifier qu’un besoin est assez clair, compris et préparé pour être traité. Son objectif est d’éviter de démarrer un travail flou ou incomplet.</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F75B0338-8DAB-99EC-AA34-430466BB9515}"/>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F41B9043-D648-31DC-9CD8-C28DA24DA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3194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03AF3-AE68-60A6-4E9D-05EA5D55E60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83A8948-6E49-4AAD-0E52-34609EDFE043}"/>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La </a:t>
            </a:r>
            <a:r>
              <a:rPr lang="fr-FR" sz="3200" dirty="0" err="1">
                <a:solidFill>
                  <a:srgbClr val="20DDA6"/>
                </a:solidFill>
                <a:latin typeface="Candara Light" panose="020E0502030303020204" pitchFamily="34" charset="0"/>
              </a:rPr>
              <a:t>Definition</a:t>
            </a:r>
            <a:r>
              <a:rPr lang="fr-FR" sz="3200" dirty="0">
                <a:solidFill>
                  <a:srgbClr val="20DDA6"/>
                </a:solidFill>
                <a:latin typeface="Candara Light" panose="020E0502030303020204" pitchFamily="34" charset="0"/>
              </a:rPr>
              <a:t> of </a:t>
            </a:r>
            <a:r>
              <a:rPr lang="fr-FR" sz="3200" dirty="0" err="1">
                <a:solidFill>
                  <a:srgbClr val="20DDA6"/>
                </a:solidFill>
                <a:latin typeface="Candara Light" panose="020E0502030303020204" pitchFamily="34" charset="0"/>
              </a:rPr>
              <a:t>Done</a:t>
            </a:r>
            <a:r>
              <a:rPr lang="fr-FR" sz="3200" dirty="0">
                <a:solidFill>
                  <a:srgbClr val="20DDA6"/>
                </a:solidFill>
                <a:latin typeface="Candara Light" panose="020E0502030303020204" pitchFamily="34" charset="0"/>
              </a:rPr>
              <a:t> </a:t>
            </a:r>
            <a:r>
              <a:rPr lang="fr-FR" sz="3200" dirty="0">
                <a:solidFill>
                  <a:schemeClr val="bg1"/>
                </a:solidFill>
                <a:latin typeface="Candara Light" panose="020E0502030303020204" pitchFamily="34" charset="0"/>
              </a:rPr>
              <a:t>définit les critères qui permettent de considérer qu’un </a:t>
            </a:r>
            <a:r>
              <a:rPr lang="fr-FR" sz="3200" dirty="0">
                <a:solidFill>
                  <a:srgbClr val="FFC000"/>
                </a:solidFill>
                <a:latin typeface="Candara Light" panose="020E0502030303020204" pitchFamily="34" charset="0"/>
              </a:rPr>
              <a:t>travail est réellement terminé</a:t>
            </a:r>
            <a:r>
              <a:rPr lang="fr-FR" sz="3200" dirty="0">
                <a:solidFill>
                  <a:schemeClr val="bg1"/>
                </a:solidFill>
                <a:latin typeface="Candara Light" panose="020E0502030303020204" pitchFamily="34" charset="0"/>
              </a:rPr>
              <a:t>.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Elle garantit un niveau de qualité partagé par toute l’équipe. Un élément n’est donc pas “fini” seulement parce qu’il est développé, mais parce qu’il respecte les conditions de validation fixées.</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14887B16-F393-1909-A183-BC68A372C3DA}"/>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E23B6157-F2C5-6AE8-60A6-461888408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557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4881F-F8B8-ABD7-CAE3-B43998645C8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A5BCE41-28D7-7B2D-E93C-A2CCD6F57447}"/>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Work In Progress (WIP) </a:t>
            </a:r>
            <a:r>
              <a:rPr lang="fr-FR" sz="3200" dirty="0">
                <a:solidFill>
                  <a:schemeClr val="bg1"/>
                </a:solidFill>
                <a:latin typeface="Candara Light" panose="020E0502030303020204" pitchFamily="34" charset="0"/>
              </a:rPr>
              <a:t>désigne le travail en cours. En gestion de projet agile ou en Kanban</a:t>
            </a:r>
            <a:r>
              <a:rPr lang="fr-FR" sz="3200" dirty="0">
                <a:solidFill>
                  <a:srgbClr val="FFC000"/>
                </a:solidFill>
                <a:latin typeface="Candara Light" panose="020E0502030303020204" pitchFamily="34" charset="0"/>
              </a:rPr>
              <a:t>, limiter le WIP permet de réduire la dispersion</a:t>
            </a:r>
            <a:r>
              <a:rPr lang="fr-FR" sz="3200" dirty="0">
                <a:solidFill>
                  <a:schemeClr val="bg1"/>
                </a:solidFill>
                <a:latin typeface="Candara Light" panose="020E0502030303020204" pitchFamily="34" charset="0"/>
              </a:rPr>
              <a:t>, de fluidifier l’avancement et d’éviter l’accumulation de tâches ouvertes en parallèle.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L’objectif est de </a:t>
            </a:r>
            <a:r>
              <a:rPr lang="fr-FR" sz="3200" dirty="0">
                <a:solidFill>
                  <a:srgbClr val="FFC000"/>
                </a:solidFill>
                <a:latin typeface="Candara Light" panose="020E0502030303020204" pitchFamily="34" charset="0"/>
              </a:rPr>
              <a:t>finir mieux et plus vite</a:t>
            </a:r>
            <a:r>
              <a:rPr lang="fr-FR" sz="3200" dirty="0">
                <a:solidFill>
                  <a:schemeClr val="bg1"/>
                </a:solidFill>
                <a:latin typeface="Candara Light" panose="020E0502030303020204" pitchFamily="34" charset="0"/>
              </a:rPr>
              <a:t>, pas de commencer davantage.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1636F86D-FF14-2C79-4568-3AE83B8AAEDE}"/>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F8EC07C5-3FDF-A259-65EE-FAC4B3F10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368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21C54-5C74-B930-6743-1B763D834EC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5E9F954-2E32-0CC2-2FCB-3F79653E520D}"/>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rgbClr val="20DDA6"/>
                </a:solidFill>
                <a:latin typeface="Candara Light" panose="020E0502030303020204" pitchFamily="34" charset="0"/>
              </a:rPr>
              <a:t>Jira</a:t>
            </a:r>
            <a:r>
              <a:rPr lang="fr-FR" sz="3200" dirty="0">
                <a:solidFill>
                  <a:schemeClr val="bg1"/>
                </a:solidFill>
                <a:latin typeface="Candara Light" panose="020E0502030303020204" pitchFamily="34" charset="0"/>
              </a:rPr>
              <a:t> est un </a:t>
            </a:r>
            <a:r>
              <a:rPr lang="fr-FR" sz="3200" dirty="0">
                <a:solidFill>
                  <a:srgbClr val="FFC000"/>
                </a:solidFill>
                <a:latin typeface="Candara Light" panose="020E0502030303020204" pitchFamily="34" charset="0"/>
              </a:rPr>
              <a:t>outil de gestion de projet </a:t>
            </a:r>
            <a:r>
              <a:rPr lang="fr-FR" sz="3200" dirty="0">
                <a:solidFill>
                  <a:schemeClr val="bg1"/>
                </a:solidFill>
                <a:latin typeface="Candara Light" panose="020E0502030303020204" pitchFamily="34" charset="0"/>
              </a:rPr>
              <a:t>et de suivi des tâches utilisé pour planifier, organiser et piloter le travail d’une équipe.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Il permet de gérer un </a:t>
            </a:r>
            <a:r>
              <a:rPr lang="fr-FR" sz="3200" dirty="0" err="1">
                <a:solidFill>
                  <a:schemeClr val="bg1"/>
                </a:solidFill>
                <a:latin typeface="Candara Light" panose="020E0502030303020204" pitchFamily="34" charset="0"/>
              </a:rPr>
              <a:t>backlog</a:t>
            </a:r>
            <a:r>
              <a:rPr lang="fr-FR" sz="3200" dirty="0">
                <a:solidFill>
                  <a:schemeClr val="bg1"/>
                </a:solidFill>
                <a:latin typeface="Candara Light" panose="020E0502030303020204" pitchFamily="34" charset="0"/>
              </a:rPr>
              <a:t>, suivre l’avancement des tickets, visualiser le flux de travail et produire du </a:t>
            </a:r>
            <a:r>
              <a:rPr lang="fr-FR" sz="3200" dirty="0" err="1">
                <a:solidFill>
                  <a:schemeClr val="bg1"/>
                </a:solidFill>
                <a:latin typeface="Candara Light" panose="020E0502030303020204" pitchFamily="34" charset="0"/>
              </a:rPr>
              <a:t>reporting</a:t>
            </a:r>
            <a:r>
              <a:rPr lang="fr-FR" sz="3200" dirty="0">
                <a:solidFill>
                  <a:schemeClr val="bg1"/>
                </a:solidFill>
                <a:latin typeface="Candara Light" panose="020E0502030303020204" pitchFamily="34" charset="0"/>
              </a:rPr>
              <a:t> projet.</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7723CD7D-26CD-6E27-9B2A-C2DAC61A9357}"/>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E9F27E8B-B75F-E8B8-0BF0-D81A779FAD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6392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F9CDE-720D-8F50-7D98-28CD72F55D2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2247AF50-F4A5-68E6-4806-9B806019B64E}"/>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F0438E7B-B5CE-C7BB-9669-A5EA4B0E38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17FB642A-3A63-345E-FCCE-6422A86C7F4C}"/>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203F98C5-9CF2-68D6-FEE6-7A19B08B718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11A6B4D5-287C-F03B-A9D4-5A26FCF4569A}"/>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réalisez l’étape 5.3 du sujet fourni</a:t>
            </a:r>
          </a:p>
        </p:txBody>
      </p:sp>
    </p:spTree>
    <p:extLst>
      <p:ext uri="{BB962C8B-B14F-4D97-AF65-F5344CB8AC3E}">
        <p14:creationId xmlns:p14="http://schemas.microsoft.com/office/powerpoint/2010/main" val="2320826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3"/>
          <p:cNvSpPr txBox="1"/>
          <p:nvPr/>
        </p:nvSpPr>
        <p:spPr>
          <a:xfrm>
            <a:off x="1364974" y="2771826"/>
            <a:ext cx="9462051" cy="768350"/>
          </a:xfrm>
          <a:prstGeom prst="rect">
            <a:avLst/>
          </a:prstGeom>
          <a:noFill/>
        </p:spPr>
        <p:txBody>
          <a:bodyPr wrap="square" rtlCol="0">
            <a:spAutoFit/>
          </a:bodyPr>
          <a:lstStyle/>
          <a:p>
            <a:pPr algn="ctr"/>
            <a:r>
              <a:rPr lang="de-DE" altLang="fr-FR" sz="4400" b="1" dirty="0">
                <a:solidFill>
                  <a:srgbClr val="20DDA6"/>
                </a:solidFill>
                <a:latin typeface="Calibri" charset="0"/>
              </a:rPr>
              <a:t>KPI</a:t>
            </a:r>
          </a:p>
        </p:txBody>
      </p:sp>
      <p:pic>
        <p:nvPicPr>
          <p:cNvPr id="6" name="Picture 4" descr="[webp-to-png output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04041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D4D4-5D7F-198D-163F-56635FC5E30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54D603B-AC10-2EA8-2105-88FF8A8463AD}"/>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Les </a:t>
            </a:r>
            <a:r>
              <a:rPr lang="fr-FR" sz="3200" dirty="0">
                <a:solidFill>
                  <a:srgbClr val="20DDA6"/>
                </a:solidFill>
                <a:latin typeface="Candara Light" panose="020E0502030303020204" pitchFamily="34" charset="0"/>
              </a:rPr>
              <a:t>Key Performance </a:t>
            </a:r>
            <a:r>
              <a:rPr lang="fr-FR" sz="3200" dirty="0" err="1">
                <a:solidFill>
                  <a:srgbClr val="20DDA6"/>
                </a:solidFill>
                <a:latin typeface="Candara Light" panose="020E0502030303020204" pitchFamily="34" charset="0"/>
              </a:rPr>
              <a:t>Indicators</a:t>
            </a:r>
            <a:r>
              <a:rPr lang="fr-FR" sz="3200" dirty="0">
                <a:solidFill>
                  <a:srgbClr val="20DDA6"/>
                </a:solidFill>
                <a:latin typeface="Candara Light" panose="020E0502030303020204" pitchFamily="34" charset="0"/>
              </a:rPr>
              <a:t> </a:t>
            </a:r>
            <a:r>
              <a:rPr lang="fr-FR" sz="3200" dirty="0">
                <a:solidFill>
                  <a:schemeClr val="bg1"/>
                </a:solidFill>
                <a:latin typeface="Candara Light" panose="020E0502030303020204" pitchFamily="34" charset="0"/>
              </a:rPr>
              <a:t>sont des indicateurs clés de performance. Ils servent à </a:t>
            </a:r>
            <a:r>
              <a:rPr lang="fr-FR" sz="3200" dirty="0">
                <a:solidFill>
                  <a:srgbClr val="FFC000"/>
                </a:solidFill>
                <a:latin typeface="Candara Light" panose="020E0502030303020204" pitchFamily="34" charset="0"/>
              </a:rPr>
              <a:t>mesurer l’état d’avancement</a:t>
            </a:r>
            <a:r>
              <a:rPr lang="fr-FR" sz="3200" dirty="0">
                <a:solidFill>
                  <a:schemeClr val="bg1"/>
                </a:solidFill>
                <a:latin typeface="Candara Light" panose="020E0502030303020204" pitchFamily="34" charset="0"/>
              </a:rPr>
              <a:t> et l’efficacité du projet sur des dimensions comme le délai, le coût ou la qualité. Un bon KPI aide à piloter, à détecter les écarts et à prendre des décisions.</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56CCA6A2-C5DF-D59F-F27B-BF5FCC675096}"/>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A0F3D285-3470-B303-502C-405B4D4EE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041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1DEB32-1B59-45FA-A50C-636D8A128E90}"/>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La </a:t>
            </a:r>
            <a:r>
              <a:rPr lang="fr-FR" sz="3200" dirty="0">
                <a:solidFill>
                  <a:srgbClr val="20DDA6"/>
                </a:solidFill>
                <a:latin typeface="Candara Light" panose="020E0502030303020204" pitchFamily="34" charset="0"/>
              </a:rPr>
              <a:t>vélocité </a:t>
            </a:r>
            <a:r>
              <a:rPr lang="fr-FR" sz="3200" dirty="0">
                <a:solidFill>
                  <a:schemeClr val="bg1"/>
                </a:solidFill>
                <a:latin typeface="Candara Light" panose="020E0502030303020204" pitchFamily="34" charset="0"/>
              </a:rPr>
              <a:t>permet de déterminer l’effort qu’est capable de fournir une équipe de développement pour la réalisation des tâches programmées dans un sprint. Elle est exprimée en nombre de points / sprint</a:t>
            </a:r>
          </a:p>
          <a:p>
            <a:endParaRPr lang="fr-FR" sz="3200" dirty="0">
              <a:solidFill>
                <a:schemeClr val="bg1"/>
              </a:solidFill>
              <a:latin typeface="Candara Light" panose="020E0502030303020204" pitchFamily="34" charset="0"/>
            </a:endParaRPr>
          </a:p>
          <a:p>
            <a:r>
              <a:rPr lang="fr-FR" sz="3200" dirty="0">
                <a:solidFill>
                  <a:srgbClr val="FFFF00"/>
                </a:solidFill>
                <a:latin typeface="Candara Light" panose="020E0502030303020204" pitchFamily="34" charset="0"/>
              </a:rPr>
              <a:t>Vélocité = Somme points</a:t>
            </a:r>
          </a:p>
        </p:txBody>
      </p:sp>
      <p:sp>
        <p:nvSpPr>
          <p:cNvPr id="8" name="Rectangle 7">
            <a:extLst>
              <a:ext uri="{FF2B5EF4-FFF2-40B4-BE49-F238E27FC236}">
                <a16:creationId xmlns:a16="http://schemas.microsoft.com/office/drawing/2014/main" id="{957F84E3-2977-40B4-BA02-C757E040223F}"/>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EEC62DC5-F431-44CB-A704-DF9DCF429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2139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839B0-7CD1-4465-A808-E5E6D040A951}"/>
              </a:ext>
            </a:extLst>
          </p:cNvPr>
          <p:cNvSpPr/>
          <p:nvPr/>
        </p:nvSpPr>
        <p:spPr>
          <a:xfrm>
            <a:off x="2849217" y="1272209"/>
            <a:ext cx="6520070" cy="470452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Scrum velocity chart">
            <a:extLst>
              <a:ext uri="{FF2B5EF4-FFF2-40B4-BE49-F238E27FC236}">
                <a16:creationId xmlns:a16="http://schemas.microsoft.com/office/drawing/2014/main" id="{97BE6842-B086-490C-9865-14151CCF2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1331" y="1526188"/>
            <a:ext cx="6129337" cy="4205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823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1DEB32-1B59-45FA-A50C-636D8A128E90}"/>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err="1">
                <a:solidFill>
                  <a:srgbClr val="20DDA6"/>
                </a:solidFill>
                <a:latin typeface="Candara Light" panose="020E0502030303020204" pitchFamily="34" charset="0"/>
              </a:rPr>
              <a:t>Burndown</a:t>
            </a:r>
            <a:r>
              <a:rPr lang="fr-FR" sz="3200" dirty="0">
                <a:solidFill>
                  <a:srgbClr val="20DDA6"/>
                </a:solidFill>
                <a:latin typeface="Candara Light" panose="020E0502030303020204" pitchFamily="34" charset="0"/>
              </a:rPr>
              <a:t> chart </a:t>
            </a:r>
            <a:r>
              <a:rPr lang="fr-FR" sz="3200" dirty="0">
                <a:solidFill>
                  <a:schemeClr val="bg1"/>
                </a:solidFill>
                <a:latin typeface="Candara Light" panose="020E0502030303020204" pitchFamily="34" charset="0"/>
              </a:rPr>
              <a:t>est une représentation graphique de l'évolution de quantité de travail restante par rapport au temps sur une période de temps donnée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957F84E3-2977-40B4-BA02-C757E040223F}"/>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EEC62DC5-F431-44CB-A704-DF9DCF429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270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0465C74E-A917-496B-98EA-61CCBD1CF0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2783" y="1370617"/>
            <a:ext cx="9077739" cy="4531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8000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FF161-8870-2D65-0C09-BE0FF0E98E60}"/>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7593B1C-7AD4-343A-5409-E9692850A853}"/>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3">
            <a:extLst>
              <a:ext uri="{FF2B5EF4-FFF2-40B4-BE49-F238E27FC236}">
                <a16:creationId xmlns:a16="http://schemas.microsoft.com/office/drawing/2014/main" id="{60E3D92B-2555-A9FA-6C35-BA29B7E21C74}"/>
              </a:ext>
            </a:extLst>
          </p:cNvPr>
          <p:cNvSpPr txBox="1"/>
          <p:nvPr/>
        </p:nvSpPr>
        <p:spPr>
          <a:xfrm>
            <a:off x="1364974" y="2771826"/>
            <a:ext cx="9462051" cy="768350"/>
          </a:xfrm>
          <a:prstGeom prst="rect">
            <a:avLst/>
          </a:prstGeom>
          <a:noFill/>
        </p:spPr>
        <p:txBody>
          <a:bodyPr wrap="square" rtlCol="0">
            <a:spAutoFit/>
          </a:bodyPr>
          <a:lstStyle/>
          <a:p>
            <a:pPr algn="ctr"/>
            <a:r>
              <a:rPr lang="de-DE" altLang="fr-FR" sz="4400" b="1" dirty="0" err="1">
                <a:solidFill>
                  <a:srgbClr val="20DDA6"/>
                </a:solidFill>
                <a:latin typeface="Calibri" charset="0"/>
              </a:rPr>
              <a:t>Earned</a:t>
            </a:r>
            <a:r>
              <a:rPr lang="de-DE" altLang="fr-FR" sz="4400" b="1" dirty="0">
                <a:solidFill>
                  <a:srgbClr val="20DDA6"/>
                </a:solidFill>
                <a:latin typeface="Calibri" charset="0"/>
              </a:rPr>
              <a:t> </a:t>
            </a:r>
            <a:r>
              <a:rPr lang="de-DE" altLang="fr-FR" sz="4400" b="1" dirty="0" err="1">
                <a:solidFill>
                  <a:srgbClr val="20DDA6"/>
                </a:solidFill>
                <a:latin typeface="Calibri" charset="0"/>
              </a:rPr>
              <a:t>values</a:t>
            </a:r>
            <a:endParaRPr lang="de-DE" altLang="fr-FR" sz="4400" b="1" dirty="0">
              <a:solidFill>
                <a:srgbClr val="20DDA6"/>
              </a:solidFill>
              <a:latin typeface="Calibri" charset="0"/>
            </a:endParaRPr>
          </a:p>
        </p:txBody>
      </p:sp>
      <p:pic>
        <p:nvPicPr>
          <p:cNvPr id="6" name="Picture 4" descr="[webp-to-png output image]">
            <a:extLst>
              <a:ext uri="{FF2B5EF4-FFF2-40B4-BE49-F238E27FC236}">
                <a16:creationId xmlns:a16="http://schemas.microsoft.com/office/drawing/2014/main" id="{13932347-34F0-8160-F3E4-2699EB338F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589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A128-25DA-A819-1D38-EF00006DE7B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96DB568-976D-460F-1A9B-BD47351DE49E}"/>
              </a:ext>
            </a:extLst>
          </p:cNvPr>
          <p:cNvSpPr/>
          <p:nvPr/>
        </p:nvSpPr>
        <p:spPr>
          <a:xfrm>
            <a:off x="2140979" y="3906175"/>
            <a:ext cx="9277763" cy="19890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PV = budget </a:t>
            </a:r>
            <a:r>
              <a:rPr lang="fr-FR" sz="3200" dirty="0">
                <a:solidFill>
                  <a:srgbClr val="FFC000"/>
                </a:solidFill>
                <a:latin typeface="Candara Light" panose="020E0502030303020204" pitchFamily="34" charset="0"/>
              </a:rPr>
              <a:t>prévu</a:t>
            </a:r>
            <a:r>
              <a:rPr lang="fr-FR" sz="3200" dirty="0">
                <a:solidFill>
                  <a:schemeClr val="bg1"/>
                </a:solidFill>
                <a:latin typeface="Candara Light" panose="020E0502030303020204" pitchFamily="34" charset="0"/>
              </a:rPr>
              <a:t> alloué</a:t>
            </a:r>
          </a:p>
          <a:p>
            <a:r>
              <a:rPr lang="fr-FR" sz="3200" dirty="0">
                <a:solidFill>
                  <a:schemeClr val="bg1"/>
                </a:solidFill>
                <a:latin typeface="Candara Light" panose="020E0502030303020204" pitchFamily="34" charset="0"/>
              </a:rPr>
              <a:t>EV = budget </a:t>
            </a:r>
            <a:r>
              <a:rPr lang="fr-FR" sz="3200" dirty="0">
                <a:solidFill>
                  <a:srgbClr val="FFC000"/>
                </a:solidFill>
                <a:latin typeface="Candara Light" panose="020E0502030303020204" pitchFamily="34" charset="0"/>
              </a:rPr>
              <a:t>prévu</a:t>
            </a:r>
            <a:r>
              <a:rPr lang="fr-FR" sz="3200" dirty="0">
                <a:solidFill>
                  <a:schemeClr val="bg1"/>
                </a:solidFill>
                <a:latin typeface="Candara Light" panose="020E0502030303020204" pitchFamily="34" charset="0"/>
              </a:rPr>
              <a:t> accompli</a:t>
            </a:r>
          </a:p>
          <a:p>
            <a:r>
              <a:rPr lang="fr-FR" sz="3200" dirty="0">
                <a:solidFill>
                  <a:schemeClr val="bg1"/>
                </a:solidFill>
                <a:latin typeface="Candara Light" panose="020E0502030303020204" pitchFamily="34" charset="0"/>
              </a:rPr>
              <a:t>AC = argent </a:t>
            </a:r>
            <a:r>
              <a:rPr lang="fr-FR" sz="3200" dirty="0">
                <a:solidFill>
                  <a:srgbClr val="FF33CC"/>
                </a:solidFill>
                <a:latin typeface="Candara Light" panose="020E0502030303020204" pitchFamily="34" charset="0"/>
              </a:rPr>
              <a:t>dépensé</a:t>
            </a:r>
          </a:p>
        </p:txBody>
      </p:sp>
      <p:sp>
        <p:nvSpPr>
          <p:cNvPr id="8" name="Rectangle 7">
            <a:extLst>
              <a:ext uri="{FF2B5EF4-FFF2-40B4-BE49-F238E27FC236}">
                <a16:creationId xmlns:a16="http://schemas.microsoft.com/office/drawing/2014/main" id="{E429B73E-E6DB-005B-AE63-16158B8E4BE1}"/>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BB48B66D-10E8-F786-F947-5038CDB220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ypical Graph Showing PV, EV, and AC">
            <a:extLst>
              <a:ext uri="{FF2B5EF4-FFF2-40B4-BE49-F238E27FC236}">
                <a16:creationId xmlns:a16="http://schemas.microsoft.com/office/drawing/2014/main" id="{4B2333E8-3EAB-EBF1-19FE-0C3ACC19B1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3020" y="539225"/>
            <a:ext cx="5834246" cy="3034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30290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D7C35-1D02-1053-EAE8-891635C748E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20E6E59-6FAA-9758-C3EC-BBBA460795AE}"/>
              </a:ext>
            </a:extLst>
          </p:cNvPr>
          <p:cNvSpPr/>
          <p:nvPr/>
        </p:nvSpPr>
        <p:spPr>
          <a:xfrm>
            <a:off x="2185367" y="299271"/>
            <a:ext cx="9399992"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Si </a:t>
            </a:r>
            <a:r>
              <a:rPr lang="fr-FR" sz="3200" u="sng" dirty="0">
                <a:solidFill>
                  <a:schemeClr val="bg1"/>
                </a:solidFill>
                <a:latin typeface="Candara Light" panose="020E0502030303020204" pitchFamily="34" charset="0"/>
              </a:rPr>
              <a:t>au bout de 10 jours </a:t>
            </a:r>
            <a:r>
              <a:rPr lang="fr-FR" sz="3200" dirty="0">
                <a:solidFill>
                  <a:schemeClr val="bg1"/>
                </a:solidFill>
                <a:latin typeface="Candara Light" panose="020E0502030303020204" pitchFamily="34" charset="0"/>
              </a:rPr>
              <a:t>tu avais prévu de terminer 5 tâches représentant 20 jours-homme budgétés, alors </a:t>
            </a:r>
            <a:r>
              <a:rPr lang="fr-FR" sz="3200" dirty="0">
                <a:solidFill>
                  <a:srgbClr val="FFFF00"/>
                </a:solidFill>
                <a:latin typeface="Candara Light" panose="020E0502030303020204" pitchFamily="34" charset="0"/>
              </a:rPr>
              <a:t>PV = 20</a:t>
            </a:r>
            <a:r>
              <a:rPr lang="fr-FR" sz="3200" dirty="0">
                <a:solidFill>
                  <a:schemeClr val="bg1"/>
                </a:solidFill>
                <a:latin typeface="Candara Light" panose="020E0502030303020204" pitchFamily="34" charset="0"/>
              </a:rPr>
              <a:t>.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Si en réalité tu n’as terminé que 4 tâches représentant 16 jours-homme budgétés, alors </a:t>
            </a:r>
            <a:r>
              <a:rPr lang="fr-FR" sz="3200" dirty="0">
                <a:solidFill>
                  <a:srgbClr val="FFFF00"/>
                </a:solidFill>
                <a:latin typeface="Candara Light" panose="020E0502030303020204" pitchFamily="34" charset="0"/>
              </a:rPr>
              <a:t>EV = 16</a:t>
            </a:r>
            <a:r>
              <a:rPr lang="fr-FR" sz="3200" dirty="0">
                <a:solidFill>
                  <a:schemeClr val="bg1"/>
                </a:solidFill>
                <a:latin typeface="Candara Light" panose="020E0502030303020204" pitchFamily="34" charset="0"/>
              </a:rPr>
              <a:t>.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Mais pour y arriver, tu as consommé 20 jours-homme réels ou l’équivalent en coût : ton </a:t>
            </a:r>
            <a:r>
              <a:rPr lang="fr-FR" sz="3200" dirty="0">
                <a:solidFill>
                  <a:srgbClr val="FFFF00"/>
                </a:solidFill>
                <a:latin typeface="Candara Light" panose="020E0502030303020204" pitchFamily="34" charset="0"/>
              </a:rPr>
              <a:t>AC = 20</a:t>
            </a:r>
          </a:p>
        </p:txBody>
      </p:sp>
      <p:sp>
        <p:nvSpPr>
          <p:cNvPr id="8" name="Rectangle 7">
            <a:extLst>
              <a:ext uri="{FF2B5EF4-FFF2-40B4-BE49-F238E27FC236}">
                <a16:creationId xmlns:a16="http://schemas.microsoft.com/office/drawing/2014/main" id="{0A36388A-5AD9-C75F-2D90-9B479EF56C77}"/>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DD082CC7-9D0B-1375-9F50-E1E2E12BC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684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81332-CBA0-85D0-4B68-C300BDAD021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481FD97-A995-12A6-46EA-6BF019CD2ED9}"/>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a:solidFill>
                  <a:srgbClr val="20DDA6"/>
                </a:solidFill>
                <a:latin typeface="Candara Light" panose="020E0502030303020204" pitchFamily="34" charset="0"/>
              </a:rPr>
              <a:t>Schedule Performance Index (SPI) </a:t>
            </a:r>
            <a:r>
              <a:rPr lang="fr-FR" sz="3200" dirty="0">
                <a:solidFill>
                  <a:schemeClr val="bg1"/>
                </a:solidFill>
                <a:latin typeface="Candara Light" panose="020E0502030303020204" pitchFamily="34" charset="0"/>
              </a:rPr>
              <a:t>mesure la performance du planning. Il permet de </a:t>
            </a:r>
            <a:r>
              <a:rPr lang="fr-FR" sz="3200" dirty="0">
                <a:solidFill>
                  <a:srgbClr val="FFC000"/>
                </a:solidFill>
                <a:latin typeface="Candara Light" panose="020E0502030303020204" pitchFamily="34" charset="0"/>
              </a:rPr>
              <a:t>comparer l’avancement réel à l’avancement prévu</a:t>
            </a:r>
            <a:r>
              <a:rPr lang="fr-FR" sz="3200" dirty="0">
                <a:solidFill>
                  <a:schemeClr val="bg1"/>
                </a:solidFill>
                <a:latin typeface="Candara Light" panose="020E0502030303020204" pitchFamily="34" charset="0"/>
              </a:rPr>
              <a:t>. </a:t>
            </a:r>
          </a:p>
          <a:p>
            <a:endParaRPr lang="fr-FR" sz="3200" dirty="0">
              <a:solidFill>
                <a:schemeClr val="bg1"/>
              </a:solidFill>
              <a:latin typeface="Candara Light" panose="020E0502030303020204" pitchFamily="34" charset="0"/>
            </a:endParaRPr>
          </a:p>
          <a:p>
            <a:r>
              <a:rPr lang="fr-FR" sz="3200" dirty="0">
                <a:solidFill>
                  <a:srgbClr val="FFFF00"/>
                </a:solidFill>
                <a:latin typeface="Candara Light" panose="020E0502030303020204" pitchFamily="34" charset="0"/>
              </a:rPr>
              <a:t>SPI = EV / PV</a:t>
            </a:r>
          </a:p>
        </p:txBody>
      </p:sp>
      <p:sp>
        <p:nvSpPr>
          <p:cNvPr id="8" name="Rectangle 7">
            <a:extLst>
              <a:ext uri="{FF2B5EF4-FFF2-40B4-BE49-F238E27FC236}">
                <a16:creationId xmlns:a16="http://schemas.microsoft.com/office/drawing/2014/main" id="{CCDBF43B-EB1D-33FD-1449-142FC9AA435D}"/>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E93AFFAF-D532-D6D9-07DC-3846DF52BB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0333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F9C8-6159-412B-0529-70266B7FC63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9574FB3-8A27-6C96-47E8-C267518365B2}"/>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E1E9012F-61D1-BC40-57F6-3768B8099A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C20DDBFB-CB56-7566-A5AA-F78E967E42F8}"/>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94FD7791-9970-E0CA-D827-06CBD6154D1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820B20A1-3FB9-B84A-A18E-4ADFC31492EA}"/>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rgbClr val="FFFF00"/>
                </a:solidFill>
                <a:latin typeface="Candara Light" panose="020E0502030303020204" pitchFamily="34" charset="0"/>
              </a:rPr>
              <a:t>SPI = EV / PV</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SPI = 1 ?</a:t>
            </a:r>
          </a:p>
        </p:txBody>
      </p:sp>
    </p:spTree>
    <p:extLst>
      <p:ext uri="{BB962C8B-B14F-4D97-AF65-F5344CB8AC3E}">
        <p14:creationId xmlns:p14="http://schemas.microsoft.com/office/powerpoint/2010/main" val="2241224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4E2C9-9660-56E4-7C51-9CD19D59001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932D6E3-CCCD-6614-9B97-A1965822C067}"/>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Un SPI inférieur à 1 indique un retard, un SPI égal à 1 montre un respect du planning, et un SPI supérieur à 1 signale une avance.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A6D15BFE-717A-DA1F-D5A6-29094FDD6129}"/>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2B378AB3-AFEB-A46C-3552-803CD642A3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7607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AA554-D3B8-D655-ED7A-215D1DC67DF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06AAF25-8A8A-6925-56DA-12D675C46D05}"/>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Le </a:t>
            </a:r>
            <a:r>
              <a:rPr lang="fr-FR" sz="3200" dirty="0" err="1">
                <a:solidFill>
                  <a:srgbClr val="20DDA6"/>
                </a:solidFill>
                <a:latin typeface="Candara Light" panose="020E0502030303020204" pitchFamily="34" charset="0"/>
              </a:rPr>
              <a:t>Cost</a:t>
            </a:r>
            <a:r>
              <a:rPr lang="fr-FR" sz="3200" dirty="0">
                <a:solidFill>
                  <a:srgbClr val="20DDA6"/>
                </a:solidFill>
                <a:latin typeface="Candara Light" panose="020E0502030303020204" pitchFamily="34" charset="0"/>
              </a:rPr>
              <a:t> Performance Index (CPI) </a:t>
            </a:r>
            <a:r>
              <a:rPr lang="fr-FR" sz="3200" dirty="0">
                <a:solidFill>
                  <a:schemeClr val="bg1"/>
                </a:solidFill>
                <a:latin typeface="Candara Light" panose="020E0502030303020204" pitchFamily="34" charset="0"/>
              </a:rPr>
              <a:t>mesure la performance des coûts. Il </a:t>
            </a:r>
            <a:r>
              <a:rPr lang="fr-FR" sz="3200" dirty="0">
                <a:solidFill>
                  <a:srgbClr val="FFC000"/>
                </a:solidFill>
                <a:latin typeface="Candara Light" panose="020E0502030303020204" pitchFamily="34" charset="0"/>
              </a:rPr>
              <a:t>compare la valeur produite au coût réellement engagé</a:t>
            </a:r>
            <a:r>
              <a:rPr lang="fr-FR" sz="3200" dirty="0">
                <a:solidFill>
                  <a:schemeClr val="bg1"/>
                </a:solidFill>
                <a:latin typeface="Candara Light" panose="020E0502030303020204" pitchFamily="34" charset="0"/>
              </a:rPr>
              <a:t>. </a:t>
            </a:r>
          </a:p>
          <a:p>
            <a:endParaRPr lang="fr-FR" sz="3200" dirty="0">
              <a:solidFill>
                <a:schemeClr val="bg1"/>
              </a:solidFill>
              <a:latin typeface="Candara Light" panose="020E0502030303020204" pitchFamily="34" charset="0"/>
            </a:endParaRPr>
          </a:p>
          <a:p>
            <a:r>
              <a:rPr lang="fr-FR" sz="3200" dirty="0">
                <a:solidFill>
                  <a:srgbClr val="FFFF00"/>
                </a:solidFill>
                <a:latin typeface="Candara Light" panose="020E0502030303020204" pitchFamily="34" charset="0"/>
              </a:rPr>
              <a:t>CPI = EV / AC</a:t>
            </a:r>
          </a:p>
        </p:txBody>
      </p:sp>
      <p:sp>
        <p:nvSpPr>
          <p:cNvPr id="8" name="Rectangle 7">
            <a:extLst>
              <a:ext uri="{FF2B5EF4-FFF2-40B4-BE49-F238E27FC236}">
                <a16:creationId xmlns:a16="http://schemas.microsoft.com/office/drawing/2014/main" id="{E7558CE0-E9C5-869B-18F8-378BCB797682}"/>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A26C9387-22AE-676B-8F68-3D97D8CB7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625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2E86E-A932-156C-FE86-CCC08B71736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F8498B1C-9012-A469-A9EA-E171708CF399}"/>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F3792FB7-3F2F-A2EC-E026-F72981C522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4DCA46EB-2D62-6532-658D-0CA5A954AA61}"/>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F5D83459-6F50-A229-9679-DE2343B664E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627204BC-824C-6A14-7F7B-7B894082AA5A}"/>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rgbClr val="FFFF00"/>
                </a:solidFill>
                <a:latin typeface="Candara Light" panose="020E0502030303020204" pitchFamily="34" charset="0"/>
              </a:rPr>
              <a:t>CPI = EV / AC</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CPI = 1 ?</a:t>
            </a:r>
          </a:p>
        </p:txBody>
      </p:sp>
    </p:spTree>
    <p:extLst>
      <p:ext uri="{BB962C8B-B14F-4D97-AF65-F5344CB8AC3E}">
        <p14:creationId xmlns:p14="http://schemas.microsoft.com/office/powerpoint/2010/main" val="2156771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E517F-6E22-BA4E-4D44-D01C4DF6C47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703AC2F-7533-66E8-9230-441BA7B3A3CB}"/>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Un CPI inférieur à 1 révèle une dérive budgétaire, un CPI égal à 1 indique une maîtrise conforme au budget, et un CPI supérieur à 1 traduit une bonne efficacité économique.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C245BAE6-0628-FD35-3E42-784D55E38EE5}"/>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C085A3CD-CB7E-198E-A8E1-FF67B5C2B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8820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CAEB0-0705-D3BC-1922-CE6A7F7BAB5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63054AD-B58B-63D8-33B7-5AD7A7683E34}"/>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27D6E24F-4A34-B864-18B3-0673EF47B37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E0EEF201-E90F-847F-3110-7BAD3AE7D3AE}"/>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AD7E5756-B629-48E4-8936-3E40250FD244}"/>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E0ECE744-93DA-7045-78DB-E9AC9E104146}"/>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réalisez l’étape 5.4 du sujet fourni</a:t>
            </a:r>
          </a:p>
        </p:txBody>
      </p:sp>
    </p:spTree>
    <p:extLst>
      <p:ext uri="{BB962C8B-B14F-4D97-AF65-F5344CB8AC3E}">
        <p14:creationId xmlns:p14="http://schemas.microsoft.com/office/powerpoint/2010/main" val="3968981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B7F4-57B8-A279-3319-BD92B5456B8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4AB8391-11B8-5060-ACFC-79B7AD0AB376}"/>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3">
            <a:extLst>
              <a:ext uri="{FF2B5EF4-FFF2-40B4-BE49-F238E27FC236}">
                <a16:creationId xmlns:a16="http://schemas.microsoft.com/office/drawing/2014/main" id="{D89E881B-6A55-F4D1-3461-A5F2C7ED3873}"/>
              </a:ext>
            </a:extLst>
          </p:cNvPr>
          <p:cNvSpPr txBox="1"/>
          <p:nvPr/>
        </p:nvSpPr>
        <p:spPr>
          <a:xfrm>
            <a:off x="1364974" y="2771826"/>
            <a:ext cx="9462051" cy="768350"/>
          </a:xfrm>
          <a:prstGeom prst="rect">
            <a:avLst/>
          </a:prstGeom>
          <a:noFill/>
        </p:spPr>
        <p:txBody>
          <a:bodyPr wrap="square" rtlCol="0">
            <a:spAutoFit/>
          </a:bodyPr>
          <a:lstStyle/>
          <a:p>
            <a:pPr algn="ctr"/>
            <a:r>
              <a:rPr lang="de-DE" altLang="fr-FR" sz="4400" b="1" dirty="0">
                <a:solidFill>
                  <a:srgbClr val="20DDA6"/>
                </a:solidFill>
                <a:latin typeface="Calibri" charset="0"/>
              </a:rPr>
              <a:t>Gestion des </a:t>
            </a:r>
            <a:r>
              <a:rPr lang="de-DE" altLang="fr-FR" sz="4400" b="1" dirty="0" err="1">
                <a:solidFill>
                  <a:srgbClr val="20DDA6"/>
                </a:solidFill>
                <a:latin typeface="Calibri" charset="0"/>
              </a:rPr>
              <a:t>incidents</a:t>
            </a:r>
            <a:endParaRPr lang="de-DE" altLang="fr-FR" sz="4400" b="1" dirty="0">
              <a:solidFill>
                <a:srgbClr val="20DDA6"/>
              </a:solidFill>
              <a:latin typeface="Calibri" charset="0"/>
            </a:endParaRPr>
          </a:p>
        </p:txBody>
      </p:sp>
      <p:pic>
        <p:nvPicPr>
          <p:cNvPr id="6" name="Picture 4" descr="[webp-to-png output image]">
            <a:extLst>
              <a:ext uri="{FF2B5EF4-FFF2-40B4-BE49-F238E27FC236}">
                <a16:creationId xmlns:a16="http://schemas.microsoft.com/office/drawing/2014/main" id="{9E62F429-8983-4EBA-8C1D-EAC8C6B90F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68839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9A1B-2BE4-51FD-715F-AF676556AF9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F66DAFF-EE3E-66B5-5D53-E54A39160910}"/>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La </a:t>
            </a:r>
            <a:r>
              <a:rPr lang="fr-FR" sz="3200" dirty="0">
                <a:solidFill>
                  <a:srgbClr val="20DDA6"/>
                </a:solidFill>
                <a:latin typeface="Candara Light" panose="020E0502030303020204" pitchFamily="34" charset="0"/>
              </a:rPr>
              <a:t>gestion des incidents </a:t>
            </a:r>
            <a:r>
              <a:rPr lang="fr-FR" sz="3200" dirty="0">
                <a:solidFill>
                  <a:schemeClr val="bg1"/>
                </a:solidFill>
                <a:latin typeface="Candara Light" panose="020E0502030303020204" pitchFamily="34" charset="0"/>
              </a:rPr>
              <a:t>consiste à </a:t>
            </a:r>
            <a:r>
              <a:rPr lang="fr-FR" sz="3200" dirty="0">
                <a:solidFill>
                  <a:srgbClr val="FFC000"/>
                </a:solidFill>
                <a:latin typeface="Candara Light" panose="020E0502030303020204" pitchFamily="34" charset="0"/>
              </a:rPr>
              <a:t>traiter de manière structurée un problème</a:t>
            </a:r>
            <a:r>
              <a:rPr lang="fr-FR" sz="3200" dirty="0">
                <a:solidFill>
                  <a:schemeClr val="bg1"/>
                </a:solidFill>
                <a:latin typeface="Candara Light" panose="020E0502030303020204" pitchFamily="34" charset="0"/>
              </a:rPr>
              <a:t> qui perturbe le projet ou la solution.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Elle vise à analyser la situation, choisir une réponse adaptée, limiter les impacts et mettre en place des actions correctives. Elle contribue à sécuriser le projet et à renforcer l’amélioration continue.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78EEA77E-9794-68AE-B1D6-34663DC9EDFD}"/>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89E0117B-E99B-05B2-84D3-D5BB66045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4094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2DAA9-7B08-38E4-B580-3CBC08EEE2AF}"/>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61388D5-3945-2DD8-6E07-C91CBA34176B}"/>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Dans l’évaluation, il est attendu que l’équipe présente un incident crédible lié au projet, en analyse les causes et les impacts, expose les recherches menées, compare plusieurs options, justifie la décision retenue et propose des mesures correctives. L’objectif est de démontrer une capacité à traiter un problème de manière structurée et professionnelle.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08E7B6CD-8665-5EB8-EA23-52386A49FBA8}"/>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E7A45EFB-ECFE-92DE-A333-871A9900E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028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9DB31-F95E-626F-616B-976BA2F7C27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E44A052-0122-4D8B-7D05-CED13C0123C7}"/>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471E723D-9609-532F-104C-10AE3B362F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F0274C40-DCBF-71C1-7ED9-9516FBE7B43D}"/>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8396FBF5-9868-984F-998E-6810D614A4DE}"/>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99B994BA-282A-416D-CD7B-82F4B3345633}"/>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réalisez l’étape 5.5 du sujet fourni</a:t>
            </a:r>
          </a:p>
        </p:txBody>
      </p:sp>
    </p:spTree>
    <p:extLst>
      <p:ext uri="{BB962C8B-B14F-4D97-AF65-F5344CB8AC3E}">
        <p14:creationId xmlns:p14="http://schemas.microsoft.com/office/powerpoint/2010/main" val="21728623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B2AD-DF22-EB87-DD73-4CEB2334104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3043C26-F24E-90ED-0E9B-75454804B9BA}"/>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TextBox 3">
            <a:extLst>
              <a:ext uri="{FF2B5EF4-FFF2-40B4-BE49-F238E27FC236}">
                <a16:creationId xmlns:a16="http://schemas.microsoft.com/office/drawing/2014/main" id="{515822BB-9E93-2024-C9D7-E759DAC75DB4}"/>
              </a:ext>
            </a:extLst>
          </p:cNvPr>
          <p:cNvSpPr txBox="1"/>
          <p:nvPr/>
        </p:nvSpPr>
        <p:spPr>
          <a:xfrm>
            <a:off x="1364974" y="2771826"/>
            <a:ext cx="9462051" cy="768350"/>
          </a:xfrm>
          <a:prstGeom prst="rect">
            <a:avLst/>
          </a:prstGeom>
          <a:noFill/>
        </p:spPr>
        <p:txBody>
          <a:bodyPr wrap="square" rtlCol="0">
            <a:spAutoFit/>
          </a:bodyPr>
          <a:lstStyle/>
          <a:p>
            <a:pPr algn="ctr"/>
            <a:r>
              <a:rPr lang="de-DE" altLang="fr-FR" sz="4400" b="1" dirty="0" err="1">
                <a:solidFill>
                  <a:srgbClr val="20DDA6"/>
                </a:solidFill>
                <a:latin typeface="Calibri" charset="0"/>
              </a:rPr>
              <a:t>Montée</a:t>
            </a:r>
            <a:r>
              <a:rPr lang="de-DE" altLang="fr-FR" sz="4400" b="1" dirty="0">
                <a:solidFill>
                  <a:srgbClr val="20DDA6"/>
                </a:solidFill>
                <a:latin typeface="Calibri" charset="0"/>
              </a:rPr>
              <a:t> en </a:t>
            </a:r>
            <a:r>
              <a:rPr lang="de-DE" altLang="fr-FR" sz="4400" b="1" dirty="0" err="1">
                <a:solidFill>
                  <a:srgbClr val="20DDA6"/>
                </a:solidFill>
                <a:latin typeface="Calibri" charset="0"/>
              </a:rPr>
              <a:t>compétences</a:t>
            </a:r>
            <a:endParaRPr lang="de-DE" altLang="fr-FR" sz="4400" b="1" dirty="0">
              <a:solidFill>
                <a:srgbClr val="20DDA6"/>
              </a:solidFill>
              <a:latin typeface="Calibri" charset="0"/>
            </a:endParaRPr>
          </a:p>
        </p:txBody>
      </p:sp>
      <p:pic>
        <p:nvPicPr>
          <p:cNvPr id="6" name="Picture 4" descr="[webp-to-png output image]">
            <a:extLst>
              <a:ext uri="{FF2B5EF4-FFF2-40B4-BE49-F238E27FC236}">
                <a16:creationId xmlns:a16="http://schemas.microsoft.com/office/drawing/2014/main" id="{B5E449CE-B03C-3259-DC60-D1F88CC09B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0498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1E642-6B79-8BD6-81CC-BD9DFF583C6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E625EA4-5FE6-414C-DE14-D9746697C6D2}"/>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La </a:t>
            </a:r>
            <a:r>
              <a:rPr lang="fr-FR" sz="3200" dirty="0">
                <a:solidFill>
                  <a:srgbClr val="20DDA6"/>
                </a:solidFill>
                <a:latin typeface="Candara Light" panose="020E0502030303020204" pitchFamily="34" charset="0"/>
              </a:rPr>
              <a:t>montée en compétences </a:t>
            </a:r>
            <a:r>
              <a:rPr lang="fr-FR" sz="3200" dirty="0">
                <a:solidFill>
                  <a:schemeClr val="bg1"/>
                </a:solidFill>
                <a:latin typeface="Candara Light" panose="020E0502030303020204" pitchFamily="34" charset="0"/>
              </a:rPr>
              <a:t>regroupe les actions destinées à </a:t>
            </a:r>
            <a:r>
              <a:rPr lang="fr-FR" sz="3200" dirty="0">
                <a:solidFill>
                  <a:srgbClr val="FFC000"/>
                </a:solidFill>
                <a:latin typeface="Candara Light" panose="020E0502030303020204" pitchFamily="34" charset="0"/>
              </a:rPr>
              <a:t>développer les pratiques et les savoir-faire</a:t>
            </a:r>
            <a:r>
              <a:rPr lang="fr-FR" sz="3200" dirty="0">
                <a:solidFill>
                  <a:schemeClr val="bg1"/>
                </a:solidFill>
                <a:latin typeface="Candara Light" panose="020E0502030303020204" pitchFamily="34" charset="0"/>
              </a:rPr>
              <a:t> de l’équipe projet. </a:t>
            </a:r>
          </a:p>
          <a:p>
            <a:endParaRPr lang="fr-FR" sz="3200" dirty="0">
              <a:solidFill>
                <a:schemeClr val="bg1"/>
              </a:solidFill>
              <a:latin typeface="Candara Light" panose="020E0502030303020204" pitchFamily="34" charset="0"/>
            </a:endParaRPr>
          </a:p>
          <a:p>
            <a:r>
              <a:rPr lang="fr-FR" sz="3200" dirty="0">
                <a:solidFill>
                  <a:schemeClr val="bg1"/>
                </a:solidFill>
                <a:latin typeface="Candara Light" panose="020E0502030303020204" pitchFamily="34" charset="0"/>
              </a:rPr>
              <a:t>Elle permet d’améliorer la qualité du travail, de renforcer l’autonomie et de soutenir la performance collective. Dans un projet numérique, elle constitue un levier concret de fiabilisation et d’amélioration continue.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F17E2F0C-80DD-4187-D60E-BD554035C3B4}"/>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91DF0A16-C3AB-69AE-4895-DCB8EF446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7847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EF56B-47E4-B25A-2688-DFE889676A5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96A8827-0CCE-B862-909C-C6D54583897A}"/>
              </a:ext>
            </a:extLst>
          </p:cNvPr>
          <p:cNvSpPr/>
          <p:nvPr/>
        </p:nvSpPr>
        <p:spPr>
          <a:xfrm>
            <a:off x="2185367" y="299271"/>
            <a:ext cx="9277763"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Dans l’évaluation, il est attendu que l’équipe identifie un besoin concret de progression, propose une action adaptée comme un atelier, un RETEX ou une revue de code, puis définisse des indicateurs d’impact. L’objectif est de montrer que l’équipe sait organiser une amélioration utile et mesurable de la performance collective.</a:t>
            </a:r>
            <a:endParaRPr lang="fr-FR" sz="3200" dirty="0">
              <a:solidFill>
                <a:srgbClr val="FFFF00"/>
              </a:solidFill>
              <a:latin typeface="Candara Light" panose="020E0502030303020204" pitchFamily="34" charset="0"/>
            </a:endParaRPr>
          </a:p>
        </p:txBody>
      </p:sp>
      <p:sp>
        <p:nvSpPr>
          <p:cNvPr id="8" name="Rectangle 7">
            <a:extLst>
              <a:ext uri="{FF2B5EF4-FFF2-40B4-BE49-F238E27FC236}">
                <a16:creationId xmlns:a16="http://schemas.microsoft.com/office/drawing/2014/main" id="{38931711-F186-79C8-E553-7EE7EE4C37FE}"/>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6C569239-7C63-FAC3-EE1E-DE32E6412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8015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03A47-61F2-5B18-AA14-DC15FA90D97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E5B4FBB-B60E-14B5-5F2A-33F55257FE58}"/>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4" descr="[webp-to-png output image]">
            <a:extLst>
              <a:ext uri="{FF2B5EF4-FFF2-40B4-BE49-F238E27FC236}">
                <a16:creationId xmlns:a16="http://schemas.microsoft.com/office/drawing/2014/main" id="{56998A01-3C53-991D-7C35-1DC0EA610D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49F6A9D9-033A-268C-C203-CD19C16ECBCC}"/>
              </a:ext>
            </a:extLst>
          </p:cNvPr>
          <p:cNvSpPr txBox="1"/>
          <p:nvPr/>
        </p:nvSpPr>
        <p:spPr>
          <a:xfrm>
            <a:off x="5712099" y="2002409"/>
            <a:ext cx="2936680" cy="4508927"/>
          </a:xfrm>
          <a:prstGeom prst="rect">
            <a:avLst/>
          </a:prstGeom>
          <a:noFill/>
        </p:spPr>
        <p:txBody>
          <a:bodyPr wrap="square" rtlCol="0">
            <a:spAutoFit/>
          </a:bodyPr>
          <a:lstStyle/>
          <a:p>
            <a:r>
              <a:rPr lang="fr-FR" sz="28700" dirty="0">
                <a:solidFill>
                  <a:srgbClr val="002060"/>
                </a:solidFill>
                <a:latin typeface="Avenir Next LT Pro Demi" panose="020B0704020202020204" pitchFamily="34" charset="0"/>
              </a:rPr>
              <a:t>?</a:t>
            </a:r>
          </a:p>
        </p:txBody>
      </p:sp>
      <p:pic>
        <p:nvPicPr>
          <p:cNvPr id="5" name="Graphic 7">
            <a:extLst>
              <a:ext uri="{FF2B5EF4-FFF2-40B4-BE49-F238E27FC236}">
                <a16:creationId xmlns:a16="http://schemas.microsoft.com/office/drawing/2014/main" id="{75ADB51A-0069-30C0-A042-974642CB6FE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917990" y="710588"/>
            <a:ext cx="2644513" cy="1602107"/>
          </a:xfrm>
          <a:prstGeom prst="rect">
            <a:avLst/>
          </a:prstGeom>
        </p:spPr>
      </p:pic>
      <p:sp>
        <p:nvSpPr>
          <p:cNvPr id="7" name="Rectangle 6">
            <a:extLst>
              <a:ext uri="{FF2B5EF4-FFF2-40B4-BE49-F238E27FC236}">
                <a16:creationId xmlns:a16="http://schemas.microsoft.com/office/drawing/2014/main" id="{4750EADA-4E8B-DA59-F28B-2681C0DC4A38}"/>
              </a:ext>
            </a:extLst>
          </p:cNvPr>
          <p:cNvSpPr/>
          <p:nvPr/>
        </p:nvSpPr>
        <p:spPr>
          <a:xfrm>
            <a:off x="2963594" y="98292"/>
            <a:ext cx="7434469" cy="623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3200" dirty="0">
                <a:solidFill>
                  <a:schemeClr val="bg1"/>
                </a:solidFill>
                <a:latin typeface="Candara Light" panose="020E0502030303020204" pitchFamily="34" charset="0"/>
              </a:rPr>
              <a:t>ATELIER : réalisez l’étape 5.6 du sujet fourni</a:t>
            </a:r>
          </a:p>
        </p:txBody>
      </p:sp>
    </p:spTree>
    <p:extLst>
      <p:ext uri="{BB962C8B-B14F-4D97-AF65-F5344CB8AC3E}">
        <p14:creationId xmlns:p14="http://schemas.microsoft.com/office/powerpoint/2010/main" val="30513475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57F84E3-2977-40B4-BA02-C757E040223F}"/>
              </a:ext>
            </a:extLst>
          </p:cNvPr>
          <p:cNvSpPr/>
          <p:nvPr/>
        </p:nvSpPr>
        <p:spPr>
          <a:xfrm rot="2396635">
            <a:off x="-900931" y="-1383361"/>
            <a:ext cx="3151926" cy="3365264"/>
          </a:xfrm>
          <a:prstGeom prst="rect">
            <a:avLst/>
          </a:prstGeom>
          <a:solidFill>
            <a:srgbClr val="20DD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4" descr="[webp-to-png output image]">
            <a:extLst>
              <a:ext uri="{FF2B5EF4-FFF2-40B4-BE49-F238E27FC236}">
                <a16:creationId xmlns:a16="http://schemas.microsoft.com/office/drawing/2014/main" id="{EEC62DC5-F431-44CB-A704-DF9DCF429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4" y="299271"/>
            <a:ext cx="1693795" cy="47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0873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5660</TotalTime>
  <Words>1381</Words>
  <Application>Microsoft Office PowerPoint</Application>
  <PresentationFormat>Grand écran</PresentationFormat>
  <Paragraphs>120</Paragraphs>
  <Slides>53</Slides>
  <Notes>20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53</vt:i4>
      </vt:variant>
    </vt:vector>
  </HeadingPairs>
  <TitlesOfParts>
    <vt:vector size="59" baseType="lpstr">
      <vt:lpstr>Arial</vt:lpstr>
      <vt:lpstr>Avenir Next LT Pro Demi</vt:lpstr>
      <vt:lpstr>Calibri</vt:lpstr>
      <vt:lpstr>Calibri Light</vt:lpstr>
      <vt:lpstr>Candara Light</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dc:creator>
  <cp:lastModifiedBy>Michael NGUYEN</cp:lastModifiedBy>
  <cp:revision>1665</cp:revision>
  <dcterms:created xsi:type="dcterms:W3CDTF">2020-03-09T16:17:30Z</dcterms:created>
  <dcterms:modified xsi:type="dcterms:W3CDTF">2026-04-07T00:05:53Z</dcterms:modified>
</cp:coreProperties>
</file>